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Global Robotaxi Landscape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Deployment, Scale &amp; Strategic Leaders (2026–2035)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Executive Summary: The 'Breakout' Phase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2026 is the tipping point: Moving from Test Fleets → Commercial Service.</a:t>
            </a:r>
          </a:p>
          <a:p>
            <a:pPr>
              <a:spcAft>
                <a:spcPts val="1000"/>
              </a:spcAft>
            </a:pPr>
            <a:r>
              <a:t>• The Strategy Shift: From 'Vertical Integration' to 'Strategic Partnerships'.</a:t>
            </a:r>
          </a:p>
          <a:p>
            <a:pPr>
              <a:spcAft>
                <a:spcPts val="1000"/>
              </a:spcAft>
            </a:pPr>
            <a:r>
              <a:t>• Global fragmentation: Winners will differ by region (US vs. China vs. EU).</a:t>
            </a:r>
          </a:p>
          <a:p>
            <a:pPr>
              <a:spcAft>
                <a:spcPts val="1000"/>
              </a:spcAft>
            </a:pPr>
            <a:r>
              <a:t>• Key Insight: Autonomy is no longer 'Winner-Take-All'.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029200"/>
            <a:ext cx="8229600" cy="1371600"/>
          </a:xfrm>
          <a:prstGeom prst="rect">
            <a:avLst/>
          </a:prstGeom>
          <a:solidFill>
            <a:srgbClr val="F0F0F0"/>
          </a:solidFill>
          <a:ln>
            <a:solidFill>
              <a:srgbClr val="64646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323232"/>
                </a:solidFill>
              </a:defRPr>
            </a:pPr>
            <a:r>
              <a:t>🖼️ IMAGE PLACEHOLDER: Map of the world highlighting SF, Phoenix, Austin, and Beijing as 'Active Hotspots'.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Tier 1: Waymo (The Benchmark)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Role: The Mature Standard for Operations.</a:t>
            </a:r>
          </a:p>
          <a:p>
            <a:pPr>
              <a:spcAft>
                <a:spcPts val="1000"/>
              </a:spcAft>
            </a:pPr>
            <a:r>
              <a:t>• Strengths: Real commercial rides, deep sensor redundancy, safety validation.</a:t>
            </a:r>
          </a:p>
          <a:p>
            <a:pPr>
              <a:spcAft>
                <a:spcPts val="1000"/>
              </a:spcAft>
            </a:pPr>
            <a:r>
              <a:t>• Weaknesses: Slower geographic expansion, lacks captive OEM manufacturing.</a:t>
            </a:r>
          </a:p>
          <a:p>
            <a:pPr>
              <a:spcAft>
                <a:spcPts val="1000"/>
              </a:spcAft>
            </a:pPr>
            <a:r>
              <a:t>• Verdict: The 'Safe Bet' leader in pure robotaxi service.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029200"/>
            <a:ext cx="8229600" cy="1371600"/>
          </a:xfrm>
          <a:prstGeom prst="rect">
            <a:avLst/>
          </a:prstGeom>
          <a:solidFill>
            <a:srgbClr val="F0F0F0"/>
          </a:solidFill>
          <a:ln>
            <a:solidFill>
              <a:srgbClr val="64646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323232"/>
                </a:solidFill>
              </a:defRPr>
            </a:pPr>
            <a:r>
              <a:t>🖼️ IMAGE PLACEHOLDER: Photo of a Waymo Jaguar I-Pace in traffic (San Francisco or Phoenix).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Tier 1: Uber + Nvidia (The Aggregators)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Role: Scale via Aggregation (Demand + Tech).</a:t>
            </a:r>
          </a:p>
          <a:p>
            <a:pPr>
              <a:spcAft>
                <a:spcPts val="1000"/>
              </a:spcAft>
            </a:pPr>
            <a:r>
              <a:t>• The Stack: Uber (Network) + Lucid (Car) + Nvidia (Compute/AI).</a:t>
            </a:r>
          </a:p>
          <a:p>
            <a:pPr>
              <a:spcAft>
                <a:spcPts val="1000"/>
              </a:spcAft>
            </a:pPr>
            <a:r>
              <a:t>• Strengths: Immediate access to massive demand; asset-light model.</a:t>
            </a:r>
          </a:p>
          <a:p>
            <a:pPr>
              <a:spcAft>
                <a:spcPts val="1000"/>
              </a:spcAft>
            </a:pPr>
            <a:r>
              <a:t>• Weaknesses: Complex integration; reliant on partners for core tech.</a:t>
            </a:r>
          </a:p>
          <a:p>
            <a:pPr>
              <a:spcAft>
                <a:spcPts val="1000"/>
              </a:spcAft>
            </a:pPr>
            <a:r>
              <a:t>• Verdict: The fastest route to global scale.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029200"/>
            <a:ext cx="8229600" cy="1371600"/>
          </a:xfrm>
          <a:prstGeom prst="rect">
            <a:avLst/>
          </a:prstGeom>
          <a:solidFill>
            <a:srgbClr val="F0F0F0"/>
          </a:solidFill>
          <a:ln>
            <a:solidFill>
              <a:srgbClr val="64646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323232"/>
                </a:solidFill>
              </a:defRPr>
            </a:pPr>
            <a:r>
              <a:t>🖼️ IMAGE PLACEHOLDER: Split Image: Uber App Interface on left // Lucid Air Vehicle on right.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Tier 2: Nvidia (The Platform)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Role: The 'Operating System' of Autonomy.</a:t>
            </a:r>
          </a:p>
          <a:p>
            <a:pPr>
              <a:spcAft>
                <a:spcPts val="1000"/>
              </a:spcAft>
            </a:pPr>
            <a:r>
              <a:t>• Tech: DRIVE AGX Thor &amp; AI Foundation Models.</a:t>
            </a:r>
          </a:p>
          <a:p>
            <a:pPr>
              <a:spcAft>
                <a:spcPts val="1000"/>
              </a:spcAft>
            </a:pPr>
            <a:r>
              <a:t>• Strategy: Power everyone else (Mercedes, JLR, BYD, etc.).</a:t>
            </a:r>
          </a:p>
          <a:p>
            <a:pPr>
              <a:spcAft>
                <a:spcPts val="1000"/>
              </a:spcAft>
            </a:pPr>
            <a:r>
              <a:t>• Verdict: The 'Intel Inside' of the autonomous age. Wins regardless of who operates the car.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029200"/>
            <a:ext cx="8229600" cy="1371600"/>
          </a:xfrm>
          <a:prstGeom prst="rect">
            <a:avLst/>
          </a:prstGeom>
          <a:solidFill>
            <a:srgbClr val="F0F0F0"/>
          </a:solidFill>
          <a:ln>
            <a:solidFill>
              <a:srgbClr val="64646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323232"/>
                </a:solidFill>
              </a:defRPr>
            </a:pPr>
            <a:r>
              <a:t>🖼️ IMAGE PLACEHOLDER: Visual of Nvidia DRIVE Thor chip or a 'Digital Brain' concept.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Tier 2: Tesla (The Data Gambit)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Role: Consumer Fleet Learning.</a:t>
            </a:r>
          </a:p>
          <a:p>
            <a:pPr>
              <a:spcAft>
                <a:spcPts val="1000"/>
              </a:spcAft>
            </a:pPr>
            <a:r>
              <a:t>• Strategy: Use millions of consumer cars to train AI (FSD) -&gt; Cybercab.</a:t>
            </a:r>
          </a:p>
          <a:p>
            <a:pPr>
              <a:spcAft>
                <a:spcPts val="1000"/>
              </a:spcAft>
            </a:pPr>
            <a:r>
              <a:t>• Strengths: Unmatched data volume; vertical integration (Chip to Car).</a:t>
            </a:r>
          </a:p>
          <a:p>
            <a:pPr>
              <a:spcAft>
                <a:spcPts val="1000"/>
              </a:spcAft>
            </a:pPr>
            <a:r>
              <a:t>• Risks: Camera-only sensor debate; regulatory friction.</a:t>
            </a:r>
          </a:p>
          <a:p>
            <a:pPr>
              <a:spcAft>
                <a:spcPts val="1000"/>
              </a:spcAft>
            </a:pPr>
            <a:r>
              <a:t>• Verdict: High risk, high reward.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029200"/>
            <a:ext cx="8229600" cy="1371600"/>
          </a:xfrm>
          <a:prstGeom prst="rect">
            <a:avLst/>
          </a:prstGeom>
          <a:solidFill>
            <a:srgbClr val="F0F0F0"/>
          </a:solidFill>
          <a:ln>
            <a:solidFill>
              <a:srgbClr val="64646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323232"/>
                </a:solidFill>
              </a:defRPr>
            </a:pPr>
            <a:r>
              <a:t>🖼️ IMAGE PLACEHOLDER: Interior view of Tesla screen showing FSD visualizations.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Tier 3: Emerging &amp; Regional Powers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Mobileye (Intel): Leveraging ADAS dominance to launch robotaxis (Europe focus).</a:t>
            </a:r>
          </a:p>
          <a:p>
            <a:pPr>
              <a:spcAft>
                <a:spcPts val="1000"/>
              </a:spcAft>
            </a:pPr>
            <a:r>
              <a:t>• Baidu Apollo: The 'Google of China' for autonomy. Massive local scale.</a:t>
            </a:r>
          </a:p>
          <a:p>
            <a:pPr>
              <a:spcAft>
                <a:spcPts val="1000"/>
              </a:spcAft>
            </a:pPr>
            <a:r>
              <a:t>• Wayve (UK): AI-First 'End-to-End' learning. The wildcard technology play.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029200"/>
            <a:ext cx="8229600" cy="1371600"/>
          </a:xfrm>
          <a:prstGeom prst="rect">
            <a:avLst/>
          </a:prstGeom>
          <a:solidFill>
            <a:srgbClr val="F0F0F0"/>
          </a:solidFill>
          <a:ln>
            <a:solidFill>
              <a:srgbClr val="64646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323232"/>
                </a:solidFill>
              </a:defRPr>
            </a:pPr>
            <a:r>
              <a:t>🖼️ IMAGE PLACEHOLDER: Logos of Mobileye, Baidu, and Wayve on a global map background.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Strategic Forecast (2026–2035)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🏆 Short Term (2026-28): Waymo (Quality) &amp; Uber (Scale).</a:t>
            </a:r>
          </a:p>
          <a:p>
            <a:pPr>
              <a:spcAft>
                <a:spcPts val="1000"/>
              </a:spcAft>
            </a:pPr>
            <a:r>
              <a:t>🌍 Mid Term (2029-35): Regional fragmentation solidifies.</a:t>
            </a:r>
          </a:p>
          <a:p>
            <a:pPr>
              <a:spcAft>
                <a:spcPts val="1000"/>
              </a:spcAft>
            </a:pPr>
            <a:r>
              <a:t>🧠 Long Term Winner: Nvidia (Infrastructure dominance).</a:t>
            </a:r>
          </a:p>
          <a:p>
            <a:pPr>
              <a:spcAft>
                <a:spcPts val="1000"/>
              </a:spcAft>
            </a:pPr>
            <a:r>
              <a:t>🔮 Prediction: We will see 'Regional Champions' rather than one global monopoly.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029200"/>
            <a:ext cx="8229600" cy="1371600"/>
          </a:xfrm>
          <a:prstGeom prst="rect">
            <a:avLst/>
          </a:prstGeom>
          <a:solidFill>
            <a:srgbClr val="F0F0F0"/>
          </a:solidFill>
          <a:ln>
            <a:solidFill>
              <a:srgbClr val="64646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323232"/>
                </a:solidFill>
              </a:defRPr>
            </a:pPr>
            <a:r>
              <a:t>🖼️ IMAGE PLACEHOLDER: A timeline graphic showing 2026 (Breakout) -&gt; 2030 (Scale) -&gt; 2035 (Ubiquity).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