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0" r:id="rId3"/>
    <p:sldId id="292" r:id="rId4"/>
    <p:sldId id="289" r:id="rId5"/>
    <p:sldId id="290" r:id="rId6"/>
    <p:sldId id="270" r:id="rId7"/>
    <p:sldId id="271" r:id="rId8"/>
    <p:sldId id="291" r:id="rId9"/>
    <p:sldId id="294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FA9DC-4596-4AE7-8103-84D2D02B9339}" v="2" dt="2026-04-07T19:03:17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Ye" userId="bd8160fc85f4c918" providerId="LiveId" clId="{EBB727A7-620A-4E45-B627-ED6B81C83A27}"/>
    <pc:docChg chg="custSel addSld delSld modSld">
      <pc:chgData name="Michael Ye" userId="bd8160fc85f4c918" providerId="LiveId" clId="{EBB727A7-620A-4E45-B627-ED6B81C83A27}" dt="2026-04-07T19:14:09.870" v="181" actId="20577"/>
      <pc:docMkLst>
        <pc:docMk/>
      </pc:docMkLst>
      <pc:sldChg chg="modSp mod">
        <pc:chgData name="Michael Ye" userId="bd8160fc85f4c918" providerId="LiveId" clId="{EBB727A7-620A-4E45-B627-ED6B81C83A27}" dt="2026-04-07T19:14:09.870" v="181" actId="20577"/>
        <pc:sldMkLst>
          <pc:docMk/>
          <pc:sldMk cId="3681662039" sldId="257"/>
        </pc:sldMkLst>
        <pc:spChg chg="mod">
          <ac:chgData name="Michael Ye" userId="bd8160fc85f4c918" providerId="LiveId" clId="{EBB727A7-620A-4E45-B627-ED6B81C83A27}" dt="2026-04-07T19:14:09.870" v="181" actId="20577"/>
          <ac:spMkLst>
            <pc:docMk/>
            <pc:sldMk cId="3681662039" sldId="257"/>
            <ac:spMk id="5" creationId="{73690418-29CF-4CBC-87B4-90518AB8D719}"/>
          </ac:spMkLst>
        </pc:spChg>
      </pc:sldChg>
      <pc:sldChg chg="addSp modSp del mod">
        <pc:chgData name="Michael Ye" userId="bd8160fc85f4c918" providerId="LiveId" clId="{EBB727A7-620A-4E45-B627-ED6B81C83A27}" dt="2026-04-07T03:50:32.018" v="14"/>
        <pc:sldMkLst>
          <pc:docMk/>
          <pc:sldMk cId="1632805964" sldId="259"/>
        </pc:sldMkLst>
        <pc:spChg chg="mod">
          <ac:chgData name="Michael Ye" userId="bd8160fc85f4c918" providerId="LiveId" clId="{EBB727A7-620A-4E45-B627-ED6B81C83A27}" dt="2026-04-07T03:50:16.566" v="1"/>
          <ac:spMkLst>
            <pc:docMk/>
            <pc:sldMk cId="1632805964" sldId="259"/>
            <ac:spMk id="2" creationId="{6EFF0E62-81D6-42BD-AEBD-35EEA6B37A53}"/>
          </ac:spMkLst>
        </pc:spChg>
        <pc:spChg chg="mod">
          <ac:chgData name="Michael Ye" userId="bd8160fc85f4c918" providerId="LiveId" clId="{EBB727A7-620A-4E45-B627-ED6B81C83A27}" dt="2026-04-07T03:50:16.566" v="3"/>
          <ac:spMkLst>
            <pc:docMk/>
            <pc:sldMk cId="1632805964" sldId="259"/>
            <ac:spMk id="3" creationId="{6B160222-F91C-4E4A-9C6D-180ACE883764}"/>
          </ac:spMkLst>
        </pc:spChg>
        <pc:spChg chg="mod">
          <ac:chgData name="Michael Ye" userId="bd8160fc85f4c918" providerId="LiveId" clId="{EBB727A7-620A-4E45-B627-ED6B81C83A27}" dt="2026-04-07T03:50:16.566" v="4"/>
          <ac:spMkLst>
            <pc:docMk/>
            <pc:sldMk cId="1632805964" sldId="259"/>
            <ac:spMk id="4" creationId="{494E08B2-062C-4F78-B274-358AE0FD9EC9}"/>
          </ac:spMkLst>
        </pc:spChg>
        <pc:spChg chg="mod">
          <ac:chgData name="Michael Ye" userId="bd8160fc85f4c918" providerId="LiveId" clId="{EBB727A7-620A-4E45-B627-ED6B81C83A27}" dt="2026-04-07T03:50:16.566" v="6"/>
          <ac:spMkLst>
            <pc:docMk/>
            <pc:sldMk cId="1632805964" sldId="259"/>
            <ac:spMk id="5" creationId="{C22C3AF9-582E-4301-BC97-CB7F0DD99CF7}"/>
          </ac:spMkLst>
        </pc:spChg>
        <pc:spChg chg="add mod">
          <ac:chgData name="Michael Ye" userId="bd8160fc85f4c918" providerId="LiveId" clId="{EBB727A7-620A-4E45-B627-ED6B81C83A27}" dt="2026-04-07T03:50:16.578" v="12"/>
          <ac:spMkLst>
            <pc:docMk/>
            <pc:sldMk cId="1632805964" sldId="259"/>
            <ac:spMk id="6" creationId="{3FFCAA94-13EA-44DE-B974-B27D46D388B2}"/>
          </ac:spMkLst>
        </pc:spChg>
      </pc:sldChg>
      <pc:sldChg chg="del">
        <pc:chgData name="Michael Ye" userId="bd8160fc85f4c918" providerId="LiveId" clId="{EBB727A7-620A-4E45-B627-ED6B81C83A27}" dt="2026-04-07T19:06:42.072" v="135"/>
        <pc:sldMkLst>
          <pc:docMk/>
          <pc:sldMk cId="1290444743" sldId="260"/>
        </pc:sldMkLst>
      </pc:sldChg>
      <pc:sldChg chg="del">
        <pc:chgData name="Michael Ye" userId="bd8160fc85f4c918" providerId="LiveId" clId="{EBB727A7-620A-4E45-B627-ED6B81C83A27}" dt="2026-04-07T19:07:56.372" v="139"/>
        <pc:sldMkLst>
          <pc:docMk/>
          <pc:sldMk cId="2118850418" sldId="266"/>
        </pc:sldMkLst>
      </pc:sldChg>
      <pc:sldChg chg="del">
        <pc:chgData name="Michael Ye" userId="bd8160fc85f4c918" providerId="LiveId" clId="{EBB727A7-620A-4E45-B627-ED6B81C83A27}" dt="2026-04-07T19:08:26.588" v="141"/>
        <pc:sldMkLst>
          <pc:docMk/>
          <pc:sldMk cId="3247513933" sldId="272"/>
        </pc:sldMkLst>
      </pc:sldChg>
      <pc:sldChg chg="del">
        <pc:chgData name="Michael Ye" userId="bd8160fc85f4c918" providerId="LiveId" clId="{EBB727A7-620A-4E45-B627-ED6B81C83A27}" dt="2026-04-07T19:07:16.172" v="137"/>
        <pc:sldMkLst>
          <pc:docMk/>
          <pc:sldMk cId="811261207" sldId="273"/>
        </pc:sldMkLst>
      </pc:sldChg>
      <pc:sldChg chg="addSp modSp del mod">
        <pc:chgData name="Michael Ye" userId="bd8160fc85f4c918" providerId="LiveId" clId="{EBB727A7-620A-4E45-B627-ED6B81C83A27}" dt="2026-04-07T04:37:05.480" v="126"/>
        <pc:sldMkLst>
          <pc:docMk/>
          <pc:sldMk cId="3304815711" sldId="276"/>
        </pc:sldMkLst>
        <pc:spChg chg="add mod">
          <ac:chgData name="Michael Ye" userId="bd8160fc85f4c918" providerId="LiveId" clId="{EBB727A7-620A-4E45-B627-ED6B81C83A27}" dt="2026-04-07T04:36:53.966" v="124"/>
          <ac:spMkLst>
            <pc:docMk/>
            <pc:sldMk cId="3304815711" sldId="276"/>
            <ac:spMk id="8" creationId="{A4A44AFA-406A-4988-9632-BB5EB33A1DBA}"/>
          </ac:spMkLst>
        </pc:spChg>
      </pc:sldChg>
      <pc:sldChg chg="del">
        <pc:chgData name="Michael Ye" userId="bd8160fc85f4c918" providerId="LiveId" clId="{EBB727A7-620A-4E45-B627-ED6B81C83A27}" dt="2026-04-07T19:09:05.946" v="143"/>
        <pc:sldMkLst>
          <pc:docMk/>
          <pc:sldMk cId="422332539" sldId="277"/>
        </pc:sldMkLst>
      </pc:sldChg>
      <pc:sldChg chg="modSp add del mod">
        <pc:chgData name="Michael Ye" userId="bd8160fc85f4c918" providerId="LiveId" clId="{EBB727A7-620A-4E45-B627-ED6B81C83A27}" dt="2026-04-07T03:52:34.898" v="114"/>
        <pc:sldMkLst>
          <pc:docMk/>
          <pc:sldMk cId="3306703053" sldId="278"/>
        </pc:sldMkLst>
        <pc:spChg chg="mod">
          <ac:chgData name="Michael Ye" userId="bd8160fc85f4c918" providerId="LiveId" clId="{EBB727A7-620A-4E45-B627-ED6B81C83A27}" dt="2026-04-07T03:52:07.651" v="105"/>
          <ac:spMkLst>
            <pc:docMk/>
            <pc:sldMk cId="3306703053" sldId="278"/>
            <ac:spMk id="2" creationId="{6EFF0E62-81D6-42BD-AEBD-35EEA6B37A53}"/>
          </ac:spMkLst>
        </pc:spChg>
        <pc:spChg chg="mod">
          <ac:chgData name="Michael Ye" userId="bd8160fc85f4c918" providerId="LiveId" clId="{EBB727A7-620A-4E45-B627-ED6B81C83A27}" dt="2026-04-07T03:52:07.652" v="107"/>
          <ac:spMkLst>
            <pc:docMk/>
            <pc:sldMk cId="3306703053" sldId="278"/>
            <ac:spMk id="3" creationId="{6B160222-F91C-4E4A-9C6D-180ACE883764}"/>
          </ac:spMkLst>
        </pc:spChg>
        <pc:spChg chg="mod">
          <ac:chgData name="Michael Ye" userId="bd8160fc85f4c918" providerId="LiveId" clId="{EBB727A7-620A-4E45-B627-ED6B81C83A27}" dt="2026-04-07T03:52:07.653" v="108"/>
          <ac:spMkLst>
            <pc:docMk/>
            <pc:sldMk cId="3306703053" sldId="278"/>
            <ac:spMk id="4" creationId="{494E08B2-062C-4F78-B274-358AE0FD9EC9}"/>
          </ac:spMkLst>
        </pc:spChg>
        <pc:spChg chg="mod">
          <ac:chgData name="Michael Ye" userId="bd8160fc85f4c918" providerId="LiveId" clId="{EBB727A7-620A-4E45-B627-ED6B81C83A27}" dt="2026-04-07T03:52:07.654" v="110"/>
          <ac:spMkLst>
            <pc:docMk/>
            <pc:sldMk cId="3306703053" sldId="278"/>
            <ac:spMk id="5" creationId="{C22C3AF9-582E-4301-BC97-CB7F0DD99CF7}"/>
          </ac:spMkLst>
        </pc:spChg>
        <pc:spChg chg="mod">
          <ac:chgData name="Michael Ye" userId="bd8160fc85f4c918" providerId="LiveId" clId="{EBB727A7-620A-4E45-B627-ED6B81C83A27}" dt="2026-04-07T03:52:07.655" v="112"/>
          <ac:spMkLst>
            <pc:docMk/>
            <pc:sldMk cId="3306703053" sldId="278"/>
            <ac:spMk id="6" creationId="{3FFCAA94-13EA-44DE-B974-B27D46D388B2}"/>
          </ac:spMkLst>
        </pc:spChg>
      </pc:sldChg>
      <pc:sldChg chg="modSp add del mod">
        <pc:chgData name="Michael Ye" userId="bd8160fc85f4c918" providerId="LiveId" clId="{EBB727A7-620A-4E45-B627-ED6B81C83A27}" dt="2026-04-07T03:55:23.798" v="119"/>
        <pc:sldMkLst>
          <pc:docMk/>
          <pc:sldMk cId="3265626324" sldId="279"/>
        </pc:sldMkLst>
        <pc:spChg chg="mod">
          <ac:chgData name="Michael Ye" userId="bd8160fc85f4c918" providerId="LiveId" clId="{EBB727A7-620A-4E45-B627-ED6B81C83A27}" dt="2026-04-07T03:53:12.167" v="116"/>
          <ac:spMkLst>
            <pc:docMk/>
            <pc:sldMk cId="3265626324" sldId="279"/>
            <ac:spMk id="5" creationId="{C22C3AF9-582E-4301-BC97-CB7F0DD99CF7}"/>
          </ac:spMkLst>
        </pc:spChg>
        <pc:spChg chg="mod">
          <ac:chgData name="Michael Ye" userId="bd8160fc85f4c918" providerId="LiveId" clId="{EBB727A7-620A-4E45-B627-ED6B81C83A27}" dt="2026-04-07T03:53:12.168" v="117"/>
          <ac:spMkLst>
            <pc:docMk/>
            <pc:sldMk cId="3265626324" sldId="279"/>
            <ac:spMk id="6" creationId="{3FFCAA94-13EA-44DE-B974-B27D46D388B2}"/>
          </ac:spMkLst>
        </pc:spChg>
      </pc:sldChg>
      <pc:sldChg chg="add">
        <pc:chgData name="Michael Ye" userId="bd8160fc85f4c918" providerId="LiveId" clId="{EBB727A7-620A-4E45-B627-ED6B81C83A27}" dt="2026-04-07T03:55:23.781" v="118"/>
        <pc:sldMkLst>
          <pc:docMk/>
          <pc:sldMk cId="2498727737" sldId="280"/>
        </pc:sldMkLst>
      </pc:sldChg>
      <pc:sldChg chg="modSp add mod">
        <pc:chgData name="Michael Ye" userId="bd8160fc85f4c918" providerId="LiveId" clId="{EBB727A7-620A-4E45-B627-ED6B81C83A27}" dt="2026-04-07T04:37:52.211" v="133"/>
        <pc:sldMkLst>
          <pc:docMk/>
          <pc:sldMk cId="3094815449" sldId="281"/>
        </pc:sldMkLst>
        <pc:spChg chg="mod">
          <ac:chgData name="Michael Ye" userId="bd8160fc85f4c918" providerId="LiveId" clId="{EBB727A7-620A-4E45-B627-ED6B81C83A27}" dt="2026-04-07T04:37:52.211" v="133"/>
          <ac:spMkLst>
            <pc:docMk/>
            <pc:sldMk cId="3094815449" sldId="281"/>
            <ac:spMk id="7" creationId="{E4DBC77F-FE8F-4501-9A68-2EC03C4F25F8}"/>
          </ac:spMkLst>
        </pc:spChg>
        <pc:spChg chg="mod">
          <ac:chgData name="Michael Ye" userId="bd8160fc85f4c918" providerId="LiveId" clId="{EBB727A7-620A-4E45-B627-ED6B81C83A27}" dt="2026-04-07T04:37:52.194" v="132"/>
          <ac:spMkLst>
            <pc:docMk/>
            <pc:sldMk cId="3094815449" sldId="281"/>
            <ac:spMk id="8" creationId="{A4A44AFA-406A-4988-9632-BB5EB33A1DBA}"/>
          </ac:spMkLst>
        </pc:spChg>
      </pc:sldChg>
      <pc:sldChg chg="add del">
        <pc:chgData name="Michael Ye" userId="bd8160fc85f4c918" providerId="LiveId" clId="{EBB727A7-620A-4E45-B627-ED6B81C83A27}" dt="2026-04-07T19:10:02.334" v="145"/>
        <pc:sldMkLst>
          <pc:docMk/>
          <pc:sldMk cId="754721403" sldId="282"/>
        </pc:sldMkLst>
      </pc:sldChg>
      <pc:sldChg chg="add del">
        <pc:chgData name="Michael Ye" userId="bd8160fc85f4c918" providerId="LiveId" clId="{EBB727A7-620A-4E45-B627-ED6B81C83A27}" dt="2026-04-07T19:11:53.122" v="149"/>
        <pc:sldMkLst>
          <pc:docMk/>
          <pc:sldMk cId="197300123" sldId="283"/>
        </pc:sldMkLst>
      </pc:sldChg>
      <pc:sldChg chg="add del">
        <pc:chgData name="Michael Ye" userId="bd8160fc85f4c918" providerId="LiveId" clId="{EBB727A7-620A-4E45-B627-ED6B81C83A27}" dt="2026-04-07T19:12:00.818" v="151"/>
        <pc:sldMkLst>
          <pc:docMk/>
          <pc:sldMk cId="3007480817" sldId="284"/>
        </pc:sldMkLst>
      </pc:sldChg>
      <pc:sldChg chg="add del">
        <pc:chgData name="Michael Ye" userId="bd8160fc85f4c918" providerId="LiveId" clId="{EBB727A7-620A-4E45-B627-ED6B81C83A27}" dt="2026-04-07T19:12:12.322" v="153"/>
        <pc:sldMkLst>
          <pc:docMk/>
          <pc:sldMk cId="2779305424" sldId="285"/>
        </pc:sldMkLst>
      </pc:sldChg>
      <pc:sldChg chg="add del">
        <pc:chgData name="Michael Ye" userId="bd8160fc85f4c918" providerId="LiveId" clId="{EBB727A7-620A-4E45-B627-ED6B81C83A27}" dt="2026-04-07T19:10:40.445" v="147"/>
        <pc:sldMkLst>
          <pc:docMk/>
          <pc:sldMk cId="2552084859" sldId="286"/>
        </pc:sldMkLst>
      </pc:sldChg>
      <pc:sldChg chg="add del">
        <pc:chgData name="Michael Ye" userId="bd8160fc85f4c918" providerId="LiveId" clId="{EBB727A7-620A-4E45-B627-ED6B81C83A27}" dt="2026-04-07T19:12:19.522" v="155"/>
        <pc:sldMkLst>
          <pc:docMk/>
          <pc:sldMk cId="1146161427" sldId="287"/>
        </pc:sldMkLst>
      </pc:sldChg>
      <pc:sldChg chg="add del">
        <pc:chgData name="Michael Ye" userId="bd8160fc85f4c918" providerId="LiveId" clId="{EBB727A7-620A-4E45-B627-ED6B81C83A27}" dt="2026-04-07T19:12:54.308" v="157"/>
        <pc:sldMkLst>
          <pc:docMk/>
          <pc:sldMk cId="2722206072" sldId="288"/>
        </pc:sldMkLst>
      </pc:sldChg>
      <pc:sldChg chg="add">
        <pc:chgData name="Michael Ye" userId="bd8160fc85f4c918" providerId="LiveId" clId="{EBB727A7-620A-4E45-B627-ED6B81C83A27}" dt="2026-04-07T19:11:53.114" v="148"/>
        <pc:sldMkLst>
          <pc:docMk/>
          <pc:sldMk cId="3905741489" sldId="289"/>
        </pc:sldMkLst>
      </pc:sldChg>
      <pc:sldChg chg="add">
        <pc:chgData name="Michael Ye" userId="bd8160fc85f4c918" providerId="LiveId" clId="{EBB727A7-620A-4E45-B627-ED6B81C83A27}" dt="2026-04-07T19:12:00.812" v="150"/>
        <pc:sldMkLst>
          <pc:docMk/>
          <pc:sldMk cId="1947890629" sldId="290"/>
        </pc:sldMkLst>
      </pc:sldChg>
      <pc:sldChg chg="add">
        <pc:chgData name="Michael Ye" userId="bd8160fc85f4c918" providerId="LiveId" clId="{EBB727A7-620A-4E45-B627-ED6B81C83A27}" dt="2026-04-07T19:12:12.305" v="152"/>
        <pc:sldMkLst>
          <pc:docMk/>
          <pc:sldMk cId="3343701547" sldId="291"/>
        </pc:sldMkLst>
      </pc:sldChg>
      <pc:sldChg chg="add">
        <pc:chgData name="Michael Ye" userId="bd8160fc85f4c918" providerId="LiveId" clId="{EBB727A7-620A-4E45-B627-ED6B81C83A27}" dt="2026-04-07T19:12:19.505" v="154"/>
        <pc:sldMkLst>
          <pc:docMk/>
          <pc:sldMk cId="46589920" sldId="292"/>
        </pc:sldMkLst>
      </pc:sldChg>
      <pc:sldChg chg="add del">
        <pc:chgData name="Michael Ye" userId="bd8160fc85f4c918" providerId="LiveId" clId="{EBB727A7-620A-4E45-B627-ED6B81C83A27}" dt="2026-04-07T19:13:33.714" v="159"/>
        <pc:sldMkLst>
          <pc:docMk/>
          <pc:sldMk cId="3447826323" sldId="293"/>
        </pc:sldMkLst>
      </pc:sldChg>
      <pc:sldChg chg="add">
        <pc:chgData name="Michael Ye" userId="bd8160fc85f4c918" providerId="LiveId" clId="{EBB727A7-620A-4E45-B627-ED6B81C83A27}" dt="2026-04-07T19:13:33.705" v="158"/>
        <pc:sldMkLst>
          <pc:docMk/>
          <pc:sldMk cId="1861527279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3345-7DAB-C186-6098-BF823A86F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4ACE1-B9A1-ED61-362B-B58EFB915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7CEA-285C-FFF0-217D-629FFE15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3AC83-1331-C967-F17D-57339B45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6E6B1-BFD2-6EBA-72A9-44CE0D7D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CC25-EE25-2EDA-A8EF-67F9BA9F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F26D-4FE7-6908-28D6-00F2E2939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3E977-C69D-CA39-AA74-3F8F3F20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4C7C-1C4E-CB2B-F2CC-7EB0D40A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66351-1D7E-ABC5-AE94-6FBF610A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4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00DF-BDDC-FFAC-948C-8B47ACFD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35E30-2497-8DB0-5847-EFB038731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38E9E-FD95-8143-A8C0-A436299E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1531F-9A20-C733-6C3F-882B85D1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34B72-E34D-7BB8-6118-95315F83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EC97-5BCF-7346-07A8-3032101B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100B-294C-ED07-E1C7-2B0DB5BCE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6BAE5-0162-1774-73E7-C37E3C12B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04AD3-7269-D37E-A99B-91BD2D60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7A02A-5631-FDDD-53F8-AC10E260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9EEE0-EC82-3A3E-5AE8-3CBB12DA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8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8032-976A-8965-0DFD-CFB94B54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518E1-D3ED-ED9D-8493-5DE1EFC26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6627C-E586-2DB5-8A62-BDA917BB5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95325-0729-AF5C-C880-9B0FC0557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42C2B-05E2-8EC7-4302-981A88A3A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FC8FE-B2C0-F4C4-2E21-C18843F62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E3D05-B8DD-69A3-5466-1400FA0C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28EA9-D874-86B4-9CEF-BA1CF25F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9E01-345E-70FA-F6F5-095DBC23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FB532-5C84-F836-F8E4-23960DD2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3E4BC-6E29-EE67-BC6F-3E7A19C3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0020B-E4B5-F3E9-009D-E3F42FD5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58DCE-2021-B58C-5442-EDD43AB4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5A90E-966D-5EB7-A239-AFA2008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BA080-803D-CE71-CCA1-43E963C8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9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03E2-670C-B176-B2B7-2889A15F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9B263-4559-AFEE-9402-2D607F531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F9994-2AD2-9830-0448-9EBD276EA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AEB5B-A1C4-663F-65A9-6BC49E8C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8BFFE-E650-571C-F98A-E915D545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D98B6-33E6-0069-BB76-9005E509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4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67AC-68B2-210E-810E-51BAB6D3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2C4E6-A46B-A332-2A95-A2C36C0AE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7CEF1-64FD-20A9-61D7-72062BF23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5004D-B11E-7891-E986-6C3E3420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142B5-A120-F9AC-73CE-AD8A7E42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9D231-CAF0-ADB2-4493-EF9CB6C5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1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031A-697C-678E-BA97-3F8AF7EB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A7D4E-62DF-F368-25D7-EA0F68A45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ADFFB-5D3C-AC34-0830-3711290E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4760-3154-47FB-2B26-0502CE3B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7C9FF-5A90-7956-C796-93AC71F9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B9391-E2AB-8DB7-141E-248418867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89739-018C-7DC1-6AAD-8DB365410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10E6-DEA4-9210-DBD4-DBF05B9D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FE011-067D-F92A-3D9B-9874F773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7E086-B9A7-A375-C3F2-AD1F3CB1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6AA83-1FE7-EF51-C290-6512278D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45295-9014-645B-94BB-9E38674E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074BA-551B-3CEA-6DA0-B90073134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3F7FA-C3F6-46C6-852F-AA7722F1145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4B218-CCD8-A4F2-8547-5E0A4C73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B284-6863-0777-039A-274D1AF5E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FF3AF-94C0-4258-9C8C-97C25F285C52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Line"/>
          <p:cNvSpPr/>
          <p:nvPr userDrawn="1"/>
        </p:nvSpPr>
        <p:spPr>
          <a:xfrm>
            <a:off x="457200" y="6583680"/>
            <a:ext cx="8229600" cy="0"/>
          </a:xfrm>
          <a:prstGeom prst="line">
            <a:avLst/>
          </a:prstGeom>
          <a:ln w="12700">
            <a:solidFill>
              <a:srgbClr val="C8A96E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1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0D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0D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0D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0D0D0"/>
          </a:solidFill>
        </a:defRPr>
      </a:defPPr>
      <a:lvl1pPr marL="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BDE59E-7825-4AD8-AE31-292424167DD4}"/>
              </a:ext>
            </a:extLst>
          </p:cNvPr>
          <p:cNvSpPr txBox="1"/>
          <p:nvPr/>
        </p:nvSpPr>
        <p:spPr>
          <a:xfrm>
            <a:off x="1651000" y="20320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200" b="1">
                <a:solidFill>
                  <a:srgbClr val="C8A96E"/>
                </a:solidFill>
              </a:rPr>
              <a:t>SLEEPGENIC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90418-29CF-4CBC-87B4-90518AB8D719}"/>
              </a:ext>
            </a:extLst>
          </p:cNvPr>
          <p:cNvSpPr txBox="1"/>
          <p:nvPr/>
        </p:nvSpPr>
        <p:spPr>
          <a:xfrm>
            <a:off x="1651000" y="32385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dirty="0">
                <a:solidFill>
                  <a:srgbClr val="D0D0D0"/>
                </a:solidFill>
              </a:rPr>
              <a:t>AI-Native Sleep Prescription — Clinical Partnership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CE8C22-8499-45C9-B91B-A3816C0D0571}"/>
              </a:ext>
            </a:extLst>
          </p:cNvPr>
          <p:cNvSpPr/>
          <p:nvPr/>
        </p:nvSpPr>
        <p:spPr>
          <a:xfrm>
            <a:off x="5080000" y="3937000"/>
            <a:ext cx="2032000" cy="254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C1FC4-F355-4AB8-89A4-FB67A1E3D857}"/>
              </a:ext>
            </a:extLst>
          </p:cNvPr>
          <p:cNvSpPr txBox="1"/>
          <p:nvPr/>
        </p:nvSpPr>
        <p:spPr>
          <a:xfrm>
            <a:off x="2921000" y="5080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888888"/>
                </a:solidFill>
              </a:rPr>
              <a:t>sleepgenic.ai  |  Mike Ye, Founder</a:t>
            </a:r>
          </a:p>
        </p:txBody>
      </p:sp>
    </p:spTree>
    <p:extLst>
      <p:ext uri="{BB962C8B-B14F-4D97-AF65-F5344CB8AC3E}">
        <p14:creationId xmlns:p14="http://schemas.microsoft.com/office/powerpoint/2010/main" val="368166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FF0E62-81D6-42BD-AEBD-35EEA6B37A53}"/>
              </a:ext>
            </a:extLst>
          </p:cNvPr>
          <p:cNvSpPr txBox="1"/>
          <p:nvPr/>
        </p:nvSpPr>
        <p:spPr>
          <a:xfrm>
            <a:off x="635000" y="254000"/>
            <a:ext cx="10922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0F0F0"/>
                </a:solidFill>
              </a:rPr>
              <a:t>Sleep Is Broken. The Access Layer Is Missing.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60222-F91C-4E4A-9C6D-180ACE883764}"/>
              </a:ext>
            </a:extLst>
          </p:cNvPr>
          <p:cNvSpPr txBox="1"/>
          <p:nvPr/>
        </p:nvSpPr>
        <p:spPr>
          <a:xfrm>
            <a:off x="635000" y="914400"/>
            <a:ext cx="10922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C8A96E"/>
                </a:solidFill>
              </a:rPr>
              <a:t>1 in 3 U.S. adults has a diagnosable sleep disorder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E08B2-062C-4F78-B274-358AE0FD9EC9}"/>
              </a:ext>
            </a:extLst>
          </p:cNvPr>
          <p:cNvSpPr/>
          <p:nvPr/>
        </p:nvSpPr>
        <p:spPr>
          <a:xfrm>
            <a:off x="4699000" y="1549400"/>
            <a:ext cx="2794000" cy="254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3AF9-582E-4301-BC97-CB7F0DD99CF7}"/>
              </a:ext>
            </a:extLst>
          </p:cNvPr>
          <p:cNvSpPr txBox="1"/>
          <p:nvPr/>
        </p:nvSpPr>
        <p:spPr>
          <a:xfrm>
            <a:off x="762000" y="1778000"/>
            <a:ext cx="10668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Aft>
                <a:spcPts val="900"/>
              </a:spcAft>
              <a:buFont typeface="Arial"/>
              <a:buChar char="—"/>
            </a:pPr>
            <a:r>
              <a:rPr lang="en-US" sz="1500" b="1" dirty="0">
                <a:solidFill>
                  <a:srgbClr val="C8A96E"/>
                </a:solidFill>
              </a:rPr>
              <a:t>83.6 million U.S. adults</a:t>
            </a:r>
            <a:r>
              <a:rPr lang="en-US" sz="1500" dirty="0">
                <a:solidFill>
                  <a:srgbClr val="D0D0D0"/>
                </a:solidFill>
              </a:rPr>
              <a:t> sleep less than the recommended 7 hours per night</a:t>
            </a:r>
            <a:r>
              <a:rPr lang="en-US" sz="1300" dirty="0">
                <a:solidFill>
                  <a:srgbClr val="888888"/>
                </a:solidFill>
              </a:rPr>
              <a:t>  (CDC/NHANES)</a:t>
            </a:r>
          </a:p>
          <a:p>
            <a:pPr marL="228600" indent="-228600">
              <a:spcAft>
                <a:spcPts val="900"/>
              </a:spcAft>
              <a:buFont typeface="Arial"/>
              <a:buChar char="—"/>
            </a:pPr>
            <a:r>
              <a:rPr lang="en-US" sz="1500" b="1" dirty="0">
                <a:solidFill>
                  <a:srgbClr val="C8A96E"/>
                </a:solidFill>
              </a:rPr>
              <a:t>30% prevalence of insomnia</a:t>
            </a:r>
            <a:r>
              <a:rPr lang="en-US" sz="1500" dirty="0">
                <a:solidFill>
                  <a:srgbClr val="D0D0D0"/>
                </a:solidFill>
              </a:rPr>
              <a:t> in the U.S. adult population — approximately 30 million diagnosed cases</a:t>
            </a:r>
            <a:r>
              <a:rPr lang="en-US" sz="1300" dirty="0">
                <a:solidFill>
                  <a:srgbClr val="888888"/>
                </a:solidFill>
              </a:rPr>
              <a:t>  (NHANES / AASM 2024)</a:t>
            </a:r>
          </a:p>
          <a:p>
            <a:pPr marL="228600" indent="-228600">
              <a:spcAft>
                <a:spcPts val="900"/>
              </a:spcAft>
              <a:buFont typeface="Arial"/>
              <a:buChar char="—"/>
            </a:pPr>
            <a:r>
              <a:rPr lang="en-US" sz="1500" b="1" dirty="0">
                <a:solidFill>
                  <a:srgbClr val="C8A96E"/>
                </a:solidFill>
              </a:rPr>
              <a:t>CBT-I is the first-line treatment</a:t>
            </a:r>
            <a:r>
              <a:rPr lang="en-US" sz="1500" dirty="0">
                <a:solidFill>
                  <a:srgbClr val="D0D0D0"/>
                </a:solidFill>
              </a:rPr>
              <a:t> per the American Academy of Sleep Medicine — yet fewer than 500 certified CBT-I therapists exist in the U.S.</a:t>
            </a:r>
          </a:p>
          <a:p>
            <a:pPr marL="228600" indent="-228600">
              <a:spcAft>
                <a:spcPts val="900"/>
              </a:spcAft>
              <a:buFont typeface="Arial"/>
              <a:buChar char="—"/>
            </a:pPr>
            <a:r>
              <a:rPr lang="en-US" sz="1500" b="1" dirty="0">
                <a:solidFill>
                  <a:srgbClr val="C8A96E"/>
                </a:solidFill>
              </a:rPr>
              <a:t>Licensed physicians and NPs can prescribe</a:t>
            </a:r>
            <a:r>
              <a:rPr lang="en-US" sz="1500" dirty="0">
                <a:solidFill>
                  <a:srgbClr val="D0D0D0"/>
                </a:solidFill>
              </a:rPr>
              <a:t> sleep medications and follow CBT-I protocols without this certification. Sleepgenic's clinical model routes around this bottleneck entirely.</a:t>
            </a:r>
          </a:p>
          <a:p>
            <a:pPr marL="228600" indent="-228600">
              <a:spcAft>
                <a:spcPts val="0"/>
              </a:spcAft>
              <a:buFont typeface="Arial"/>
              <a:buChar char="—"/>
            </a:pPr>
            <a:r>
              <a:rPr lang="en-US" sz="1500" b="1" dirty="0">
                <a:solidFill>
                  <a:srgbClr val="C8A96E"/>
                </a:solidFill>
              </a:rPr>
              <a:t>The ratio: 60,000 insomnia patients per certified CBT-I therapist.</a:t>
            </a:r>
            <a:r>
              <a:rPr lang="en-US" sz="1500" dirty="0">
                <a:solidFill>
                  <a:srgbClr val="D0D0D0"/>
                </a:solidFill>
              </a:rPr>
              <a:t> Waitlists exceed one year.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CAA94-13EA-44DE-B974-B27D46D388B2}"/>
              </a:ext>
            </a:extLst>
          </p:cNvPr>
          <p:cNvSpPr txBox="1"/>
          <p:nvPr/>
        </p:nvSpPr>
        <p:spPr>
          <a:xfrm>
            <a:off x="635000" y="5842000"/>
            <a:ext cx="1092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800" b="1" dirty="0">
                <a:solidFill>
                  <a:srgbClr val="C8A96E"/>
                </a:solidFill>
              </a:rPr>
              <a:t>The access gap is structural — Sleepgenic is the access layer</a:t>
            </a:r>
          </a:p>
        </p:txBody>
      </p:sp>
    </p:spTree>
    <p:extLst>
      <p:ext uri="{BB962C8B-B14F-4D97-AF65-F5344CB8AC3E}">
        <p14:creationId xmlns:p14="http://schemas.microsoft.com/office/powerpoint/2010/main" val="249872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279400"/>
            <a:ext cx="10922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F0F0F0"/>
                </a:solidFill>
              </a:rPr>
              <a:t>Sleepgenic: Sleep Medicine Access. Online. Today.</a:t>
            </a:r>
          </a:p>
        </p:txBody>
      </p:sp>
      <p:sp>
        <p:nvSpPr>
          <p:cNvPr id="10" name="Card1"/>
          <p:cNvSpPr/>
          <p:nvPr/>
        </p:nvSpPr>
        <p:spPr>
          <a:xfrm>
            <a:off x="635000" y="1041400"/>
            <a:ext cx="2387600" cy="3556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11" name="Circ1"/>
          <p:cNvSpPr/>
          <p:nvPr/>
        </p:nvSpPr>
        <p:spPr>
          <a:xfrm>
            <a:off x="1600200" y="1219200"/>
            <a:ext cx="457200" cy="4572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2" name="T1"/>
          <p:cNvSpPr txBox="1"/>
          <p:nvPr/>
        </p:nvSpPr>
        <p:spPr>
          <a:xfrm>
            <a:off x="736600" y="17780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b="1" dirty="0">
                <a:solidFill>
                  <a:srgbClr val="C8A96E"/>
                </a:solidFill>
              </a:rPr>
              <a:t>Biometric Intake</a:t>
            </a:r>
          </a:p>
        </p:txBody>
      </p:sp>
      <p:sp>
        <p:nvSpPr>
          <p:cNvPr id="13" name="B1"/>
          <p:cNvSpPr txBox="1"/>
          <p:nvPr/>
        </p:nvSpPr>
        <p:spPr>
          <a:xfrm>
            <a:off x="762000" y="2159000"/>
            <a:ext cx="2133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l"/>
            <a:r>
              <a:rPr lang="en-US" sz="1400" dirty="0">
                <a:solidFill>
                  <a:srgbClr val="B0B0B0"/>
                </a:solidFill>
              </a:rPr>
              <a:t>10-question biometric intake — answerable from Garmin, Whoop, or Apple Watch data. 5 minutes.</a:t>
            </a:r>
          </a:p>
        </p:txBody>
      </p:sp>
      <p:sp>
        <p:nvSpPr>
          <p:cNvPr id="14" name="Arr1"/>
          <p:cNvSpPr/>
          <p:nvPr/>
        </p:nvSpPr>
        <p:spPr>
          <a:xfrm>
            <a:off x="3162300" y="2717800"/>
            <a:ext cx="177800" cy="203200"/>
          </a:xfrm>
          <a:prstGeom prst="rightArrow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Card2"/>
          <p:cNvSpPr/>
          <p:nvPr/>
        </p:nvSpPr>
        <p:spPr>
          <a:xfrm>
            <a:off x="3479800" y="1041400"/>
            <a:ext cx="2387600" cy="3556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16" name="Circ2"/>
          <p:cNvSpPr/>
          <p:nvPr/>
        </p:nvSpPr>
        <p:spPr>
          <a:xfrm>
            <a:off x="4445000" y="1219200"/>
            <a:ext cx="457200" cy="4572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7" name="T2"/>
          <p:cNvSpPr txBox="1"/>
          <p:nvPr/>
        </p:nvSpPr>
        <p:spPr>
          <a:xfrm>
            <a:off x="3581400" y="17780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b="1" dirty="0">
                <a:solidFill>
                  <a:srgbClr val="C8A96E"/>
                </a:solidFill>
              </a:rPr>
              <a:t>Checkout</a:t>
            </a:r>
          </a:p>
        </p:txBody>
      </p:sp>
      <p:sp>
        <p:nvSpPr>
          <p:cNvPr id="18" name="B2"/>
          <p:cNvSpPr txBox="1"/>
          <p:nvPr/>
        </p:nvSpPr>
        <p:spPr>
          <a:xfrm>
            <a:off x="3606800" y="2159000"/>
            <a:ext cx="2133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l"/>
            <a:r>
              <a:rPr lang="en-US" sz="1400" dirty="0">
                <a:solidFill>
                  <a:srgbClr val="B0B0B0"/>
                </a:solidFill>
              </a:rPr>
              <a:t>$149/month, cash-pay, HSA/FSA eligible. Cancel anytime.</a:t>
            </a:r>
          </a:p>
        </p:txBody>
      </p:sp>
      <p:sp>
        <p:nvSpPr>
          <p:cNvPr id="19" name="Arr2"/>
          <p:cNvSpPr/>
          <p:nvPr/>
        </p:nvSpPr>
        <p:spPr>
          <a:xfrm>
            <a:off x="6007100" y="2717800"/>
            <a:ext cx="177800" cy="203200"/>
          </a:xfrm>
          <a:prstGeom prst="rightArrow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Card3"/>
          <p:cNvSpPr/>
          <p:nvPr/>
        </p:nvSpPr>
        <p:spPr>
          <a:xfrm>
            <a:off x="6324600" y="1041400"/>
            <a:ext cx="2387600" cy="3556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1" name="Circ3"/>
          <p:cNvSpPr/>
          <p:nvPr/>
        </p:nvSpPr>
        <p:spPr>
          <a:xfrm>
            <a:off x="7289800" y="1219200"/>
            <a:ext cx="457200" cy="4572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22" name="T3"/>
          <p:cNvSpPr txBox="1"/>
          <p:nvPr/>
        </p:nvSpPr>
        <p:spPr>
          <a:xfrm>
            <a:off x="6426200" y="17780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b="1" dirty="0">
                <a:solidFill>
                  <a:srgbClr val="C8A96E"/>
                </a:solidFill>
              </a:rPr>
              <a:t>Provider Review</a:t>
            </a:r>
          </a:p>
        </p:txBody>
      </p:sp>
      <p:sp>
        <p:nvSpPr>
          <p:cNvPr id="23" name="B3"/>
          <p:cNvSpPr txBox="1"/>
          <p:nvPr/>
        </p:nvSpPr>
        <p:spPr>
          <a:xfrm>
            <a:off x="6451600" y="2159000"/>
            <a:ext cx="2133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l"/>
            <a:r>
              <a:rPr lang="en-US" sz="1400" dirty="0">
                <a:solidFill>
                  <a:srgbClr val="B0B0B0"/>
                </a:solidFill>
              </a:rPr>
              <a:t>Licensed provider reviews async within 24 hours. Clinical decision made independently by the provider network.</a:t>
            </a:r>
          </a:p>
        </p:txBody>
      </p:sp>
      <p:sp>
        <p:nvSpPr>
          <p:cNvPr id="24" name="Arr3"/>
          <p:cNvSpPr/>
          <p:nvPr/>
        </p:nvSpPr>
        <p:spPr>
          <a:xfrm>
            <a:off x="8851900" y="2717800"/>
            <a:ext cx="177800" cy="203200"/>
          </a:xfrm>
          <a:prstGeom prst="rightArrow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Card4"/>
          <p:cNvSpPr/>
          <p:nvPr/>
        </p:nvSpPr>
        <p:spPr>
          <a:xfrm>
            <a:off x="9169400" y="1041400"/>
            <a:ext cx="2387600" cy="3556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6" name="Circ4"/>
          <p:cNvSpPr/>
          <p:nvPr/>
        </p:nvSpPr>
        <p:spPr>
          <a:xfrm>
            <a:off x="10134600" y="1219200"/>
            <a:ext cx="457200" cy="4572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27" name="T4"/>
          <p:cNvSpPr txBox="1"/>
          <p:nvPr/>
        </p:nvSpPr>
        <p:spPr>
          <a:xfrm>
            <a:off x="9271000" y="17780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b="1" dirty="0">
                <a:solidFill>
                  <a:srgbClr val="C8A96E"/>
                </a:solidFill>
              </a:rPr>
              <a:t>Clinical Outcome</a:t>
            </a:r>
          </a:p>
        </p:txBody>
      </p:sp>
      <p:sp>
        <p:nvSpPr>
          <p:cNvPr id="28" name="B4"/>
          <p:cNvSpPr txBox="1"/>
          <p:nvPr/>
        </p:nvSpPr>
        <p:spPr>
          <a:xfrm>
            <a:off x="9296400" y="2159000"/>
            <a:ext cx="2133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l"/>
            <a:r>
              <a:rPr lang="en-US" sz="1400" dirty="0">
                <a:solidFill>
                  <a:srgbClr val="B0B0B0"/>
                </a:solidFill>
              </a:rPr>
              <a:t>CBT-I protocol, prescription where indicated (trazodone off-label or FDA-approved orexin antagonist), or both.</a:t>
            </a:r>
          </a:p>
        </p:txBody>
      </p:sp>
      <p:sp>
        <p:nvSpPr>
          <p:cNvPr id="50" name="BottomNote"/>
          <p:cNvSpPr txBox="1"/>
          <p:nvPr/>
        </p:nvSpPr>
        <p:spPr>
          <a:xfrm>
            <a:off x="635000" y="47625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i="1" dirty="0">
                <a:solidFill>
                  <a:srgbClr val="666666"/>
                </a:solidFill>
              </a:rPr>
              <a:t>Sleepgenic is a technology platform. All clinical decisions are made by independent licensed providers. No relationship management layer. No proprietary CBT-I delivery system. Clean access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4658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254000"/>
            <a:ext cx="1092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F0F0F0"/>
                </a:solidFill>
              </a:rPr>
              <a:t>The Medvi Proof of Concept — And Why Sleep Is Better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35000" y="863600"/>
            <a:ext cx="10922000" cy="3937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228600">
              <a:spcAft>
                <a:spcPts val="11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Medvi launched September 2024 with $20,000.</a:t>
            </a:r>
            <a:r>
              <a:rPr lang="en-US" sz="1400" dirty="0">
                <a:solidFill>
                  <a:srgbClr val="D0D0D0"/>
                </a:solidFill>
              </a:rPr>
              <a:t> Generated $401 million in revenue in its first full year with two employees and a 16.2% net profit margin. The model: brand and acquisition on top, licensed clinical infrastructure underneath. Nothing else.</a:t>
            </a:r>
          </a:p>
          <a:p>
            <a:pPr marL="228600" indent="-228600">
              <a:spcAft>
                <a:spcPts val="11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The architecture is proven.</a:t>
            </a:r>
            <a:r>
              <a:rPr lang="en-US" sz="1400" dirty="0">
                <a:solidFill>
                  <a:srgbClr val="D0D0D0"/>
                </a:solidFill>
              </a:rPr>
              <a:t> OpenLoop Health powers Medvi and 120+ other telehealth brands. Sleepgenic plugs into the same infrastructure.</a:t>
            </a:r>
          </a:p>
          <a:p>
            <a:pPr marL="228600" indent="-228600">
              <a:spcAft>
                <a:spcPts val="11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Sleep is structurally superior to GLP-1.</a:t>
            </a:r>
            <a:r>
              <a:rPr lang="en-US" sz="1400" dirty="0">
                <a:solidFill>
                  <a:srgbClr val="D0D0D0"/>
                </a:solidFill>
              </a:rPr>
              <a:t> Medvi's existential risk is FDA compounding exposure — the semaglutide shortage declaration has ended, warning letters are active, class action litigation is underway. Sleep medicine carries zero compounded drug risk. Trazodone is a decades-old generic. Orexin antagonists are FDA-approved branded drugs. The regulatory clean room that GLP-1 no longer has, sleep always had.</a:t>
            </a:r>
          </a:p>
          <a:p>
            <a:pPr marL="228600" indent="-228600">
              <a:spcAft>
                <a:spcPts val="11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Wearable adoption created the patient.</a:t>
            </a:r>
            <a:r>
              <a:rPr lang="en-US" sz="1400" dirty="0">
                <a:solidFill>
                  <a:srgbClr val="D0D0D0"/>
                </a:solidFill>
              </a:rPr>
              <a:t> 30%+ of U.S. adults track sleep data on a device. They arrive knowing something is wrong. They have nowhere to go clinically. Sleepgenic is the access layer.</a:t>
            </a:r>
          </a:p>
        </p:txBody>
      </p:sp>
      <p:sp>
        <p:nvSpPr>
          <p:cNvPr id="4" name="CalloutBg"/>
          <p:cNvSpPr/>
          <p:nvPr/>
        </p:nvSpPr>
        <p:spPr>
          <a:xfrm>
            <a:off x="635000" y="4953000"/>
            <a:ext cx="10922000" cy="889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5" name="CalloutText"/>
          <p:cNvSpPr txBox="1"/>
          <p:nvPr/>
        </p:nvSpPr>
        <p:spPr>
          <a:xfrm>
            <a:off x="889000" y="5003800"/>
            <a:ext cx="104140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C8A96E"/>
                </a:solidFill>
              </a:rPr>
              <a:t>The moat is not a proprietary platform. The moat is brand, SEO, and acquisition velocity. The same playbook Medvi used — without the regulatory clock counting down.</a:t>
            </a:r>
          </a:p>
        </p:txBody>
      </p:sp>
    </p:spTree>
    <p:extLst>
      <p:ext uri="{BB962C8B-B14F-4D97-AF65-F5344CB8AC3E}">
        <p14:creationId xmlns:p14="http://schemas.microsoft.com/office/powerpoint/2010/main" val="390574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254000"/>
            <a:ext cx="1092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F0F0F0"/>
                </a:solidFill>
              </a:rPr>
              <a:t>Sleepgenic Is Built on the Medvi Architecture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35000" y="863600"/>
            <a:ext cx="10922000" cy="469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228600">
              <a:spcAft>
                <a:spcPts val="12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Sleepgenic, LLC — Delaware entity.</a:t>
            </a:r>
            <a:r>
              <a:rPr lang="en-US" sz="1400" dirty="0">
                <a:solidFill>
                  <a:srgbClr val="D0D0D0"/>
                </a:solidFill>
              </a:rPr>
              <a:t> Technology platform only. Does not practice medicine.</a:t>
            </a:r>
          </a:p>
          <a:p>
            <a:pPr marL="228600" indent="-228600">
              <a:spcAft>
                <a:spcPts val="12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Clinical decisions sit entirely with the partner provider network.</a:t>
            </a:r>
            <a:r>
              <a:rPr lang="en-US" sz="1400" dirty="0">
                <a:solidFill>
                  <a:srgbClr val="D0D0D0"/>
                </a:solidFill>
              </a:rPr>
              <a:t> Sleepgenic is the brand and access layer. The partner is the clinical layer. Complete separation.</a:t>
            </a:r>
          </a:p>
          <a:p>
            <a:pPr marL="228600" indent="-228600">
              <a:spcAft>
                <a:spcPts val="12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Patient flow: intake → checkout → provider review → clinical outcome.</a:t>
            </a:r>
            <a:r>
              <a:rPr lang="en-US" sz="1400" dirty="0">
                <a:solidFill>
                  <a:srgbClr val="D0D0D0"/>
                </a:solidFill>
              </a:rPr>
              <a:t> No proprietary CBT-I delivery. No ongoing relationship management platform. No complexity between checkout and clinical outcome.</a:t>
            </a:r>
          </a:p>
          <a:p>
            <a:pPr marL="228600" indent="-228600">
              <a:spcAft>
                <a:spcPts val="12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Built by Mike Ye — 25+ years institutional operator,</a:t>
            </a:r>
            <a:r>
              <a:rPr lang="en-US" sz="1400" dirty="0">
                <a:solidFill>
                  <a:srgbClr val="D0D0D0"/>
                </a:solidFill>
              </a:rPr>
              <a:t> formerly Penske Media Corporation. AI-native build stack: Claude, Codex, Next.js, Vercel, OpenLoop API.</a:t>
            </a:r>
          </a:p>
          <a:p>
            <a:pPr marL="228600" indent="-228600">
              <a:spcAft>
                <a:spcPts val="1200"/>
              </a:spcAft>
              <a:buFont typeface="Arial"/>
              <a:buChar char="—"/>
            </a:pPr>
            <a:r>
              <a:rPr lang="en-US" sz="1400" b="1" dirty="0">
                <a:solidFill>
                  <a:srgbClr val="C8A96E"/>
                </a:solidFill>
              </a:rPr>
              <a:t>Reference architecture: Medvi — $401M revenue, 2 employees, 16.2% net margin, OpenLoop backend.</a:t>
            </a:r>
            <a:r>
              <a:rPr lang="en-US" sz="1400" dirty="0">
                <a:solidFill>
                  <a:srgbClr val="D0D0D0"/>
                </a:solidFill>
              </a:rPr>
              <a:t> Sleepgenic mirrors this architecture exactly in the sleep category.</a:t>
            </a:r>
          </a:p>
        </p:txBody>
      </p:sp>
      <p:sp>
        <p:nvSpPr>
          <p:cNvPr id="4" name="Divider"/>
          <p:cNvSpPr/>
          <p:nvPr/>
        </p:nvSpPr>
        <p:spPr>
          <a:xfrm>
            <a:off x="4699000" y="5778500"/>
            <a:ext cx="2794000" cy="254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BottomLine"/>
          <p:cNvSpPr txBox="1"/>
          <p:nvPr/>
        </p:nvSpPr>
        <p:spPr>
          <a:xfrm>
            <a:off x="635000" y="5969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b="1" dirty="0">
                <a:solidFill>
                  <a:srgbClr val="F0F0F0"/>
                </a:solidFill>
              </a:rPr>
              <a:t>Technology platform. Clinical backend. Brand and acquisition engine. That is the complete stack.</a:t>
            </a:r>
          </a:p>
        </p:txBody>
      </p:sp>
    </p:spTree>
    <p:extLst>
      <p:ext uri="{BB962C8B-B14F-4D97-AF65-F5344CB8AC3E}">
        <p14:creationId xmlns:p14="http://schemas.microsoft.com/office/powerpoint/2010/main" val="194789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D2196-49AB-42D7-837F-01EDAA5583F4}"/>
              </a:ext>
            </a:extLst>
          </p:cNvPr>
          <p:cNvSpPr txBox="1"/>
          <p:nvPr/>
        </p:nvSpPr>
        <p:spPr>
          <a:xfrm>
            <a:off x="635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F0F0F0"/>
                </a:solidFill>
              </a:rPr>
              <a:t>Who We Serve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B1BC5E-22C6-4ACC-918B-05FCDD713E1A}"/>
              </a:ext>
            </a:extLst>
          </p:cNvPr>
          <p:cNvSpPr/>
          <p:nvPr/>
        </p:nvSpPr>
        <p:spPr>
          <a:xfrm>
            <a:off x="635000" y="1270000"/>
            <a:ext cx="3429000" cy="4318000"/>
          </a:xfrm>
          <a:prstGeom prst="roundRect">
            <a:avLst/>
          </a:prstGeom>
          <a:solidFill>
            <a:srgbClr val="141418"/>
          </a:solidFill>
          <a:ln w="12700" cap="flat" cmpd="sng" algn="ctr">
            <a:solidFill>
              <a:srgbClr val="2A2A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F550C-6257-4F92-AAAF-F3ECF8DAF001}"/>
              </a:ext>
            </a:extLst>
          </p:cNvPr>
          <p:cNvSpPr/>
          <p:nvPr/>
        </p:nvSpPr>
        <p:spPr>
          <a:xfrm>
            <a:off x="889000" y="1422400"/>
            <a:ext cx="762000" cy="381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7C166-7840-48A4-9AB5-516EAD6E7854}"/>
              </a:ext>
            </a:extLst>
          </p:cNvPr>
          <p:cNvSpPr txBox="1"/>
          <p:nvPr/>
        </p:nvSpPr>
        <p:spPr>
          <a:xfrm>
            <a:off x="825500" y="1549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C8A96E"/>
                </a:solidFill>
              </a:rPr>
              <a:t>Profile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1DE41-F346-45C5-A931-5C752B11F6D9}"/>
              </a:ext>
            </a:extLst>
          </p:cNvPr>
          <p:cNvSpPr txBox="1"/>
          <p:nvPr/>
        </p:nvSpPr>
        <p:spPr>
          <a:xfrm>
            <a:off x="825500" y="2032000"/>
            <a:ext cx="3048000" cy="336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Adults 28–50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Biometric-aware wearable users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Cash-pay comfortable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Health optimization mindset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38F485-D12E-4E3F-8324-0553DA35C0FB}"/>
              </a:ext>
            </a:extLst>
          </p:cNvPr>
          <p:cNvSpPr/>
          <p:nvPr/>
        </p:nvSpPr>
        <p:spPr>
          <a:xfrm>
            <a:off x="4254500" y="1270000"/>
            <a:ext cx="3429000" cy="4318000"/>
          </a:xfrm>
          <a:prstGeom prst="roundRect">
            <a:avLst/>
          </a:prstGeom>
          <a:solidFill>
            <a:srgbClr val="141418"/>
          </a:solidFill>
          <a:ln w="12700" cap="flat" cmpd="sng" algn="ctr">
            <a:solidFill>
              <a:srgbClr val="2A2A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9E1556-7456-4341-8F4B-985F32F2699F}"/>
              </a:ext>
            </a:extLst>
          </p:cNvPr>
          <p:cNvSpPr/>
          <p:nvPr/>
        </p:nvSpPr>
        <p:spPr>
          <a:xfrm>
            <a:off x="4508500" y="1422400"/>
            <a:ext cx="762000" cy="381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F9B93-74FA-433A-9E1E-4165D40A12F6}"/>
              </a:ext>
            </a:extLst>
          </p:cNvPr>
          <p:cNvSpPr txBox="1"/>
          <p:nvPr/>
        </p:nvSpPr>
        <p:spPr>
          <a:xfrm>
            <a:off x="4445000" y="1549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C8A96E"/>
                </a:solidFill>
              </a:rPr>
              <a:t>Their Signal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DB5F0A-85D6-4A79-8041-FE86EB83AF15}"/>
              </a:ext>
            </a:extLst>
          </p:cNvPr>
          <p:cNvSpPr txBox="1"/>
          <p:nvPr/>
        </p:nvSpPr>
        <p:spPr>
          <a:xfrm>
            <a:off x="4445000" y="2032000"/>
            <a:ext cx="3048000" cy="336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Tracks sleep on Garmin, Whoop, or Apple Watch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Knows their HRV is suppressed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Knows their deep sleep is fragmented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Has not found a clinical solution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D1DAA4-28E3-48FF-A61B-CA000DB0626A}"/>
              </a:ext>
            </a:extLst>
          </p:cNvPr>
          <p:cNvSpPr/>
          <p:nvPr/>
        </p:nvSpPr>
        <p:spPr>
          <a:xfrm>
            <a:off x="7874000" y="1270000"/>
            <a:ext cx="3429000" cy="4318000"/>
          </a:xfrm>
          <a:prstGeom prst="roundRect">
            <a:avLst/>
          </a:prstGeom>
          <a:solidFill>
            <a:srgbClr val="141418"/>
          </a:solidFill>
          <a:ln w="12700" cap="flat" cmpd="sng" algn="ctr">
            <a:solidFill>
              <a:srgbClr val="2A2A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E6DE81-B84D-4673-9255-B7C39F0B2742}"/>
              </a:ext>
            </a:extLst>
          </p:cNvPr>
          <p:cNvSpPr/>
          <p:nvPr/>
        </p:nvSpPr>
        <p:spPr>
          <a:xfrm>
            <a:off x="8128000" y="1422400"/>
            <a:ext cx="762000" cy="381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75235-C574-463F-BBD1-5F04DFA2AE6B}"/>
              </a:ext>
            </a:extLst>
          </p:cNvPr>
          <p:cNvSpPr txBox="1"/>
          <p:nvPr/>
        </p:nvSpPr>
        <p:spPr>
          <a:xfrm>
            <a:off x="8064500" y="1549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C8A96E"/>
                </a:solidFill>
              </a:rPr>
              <a:t>Their Barrier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9AA327-4FB7-4C83-B7AE-3581082AEA6B}"/>
              </a:ext>
            </a:extLst>
          </p:cNvPr>
          <p:cNvSpPr txBox="1"/>
          <p:nvPr/>
        </p:nvSpPr>
        <p:spPr>
          <a:xfrm>
            <a:off x="8064500" y="2032000"/>
            <a:ext cx="3048000" cy="336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No sleep specialist available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Waitlists exceed 6–12 months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D0D0D0"/>
                </a:solidFill>
              </a:rPr>
              <a:t>Primary care does not address sleep systematically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5B430-A8AE-4264-869E-425711444378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C8A96E"/>
                </a:solidFill>
              </a:rPr>
              <a:t>This patient arrives with data. Not just symptoms.</a:t>
            </a:r>
          </a:p>
        </p:txBody>
      </p:sp>
    </p:spTree>
    <p:extLst>
      <p:ext uri="{BB962C8B-B14F-4D97-AF65-F5344CB8AC3E}">
        <p14:creationId xmlns:p14="http://schemas.microsoft.com/office/powerpoint/2010/main" val="341721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F7CB0-3D59-463D-8794-8B1E5DACAFCB}"/>
              </a:ext>
            </a:extLst>
          </p:cNvPr>
          <p:cNvSpPr txBox="1"/>
          <p:nvPr/>
        </p:nvSpPr>
        <p:spPr>
          <a:xfrm>
            <a:off x="635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F0F0F0"/>
                </a:solidFill>
              </a:rPr>
              <a:t>Partnership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EC2B5-3612-4F14-977B-BAA17FE87D33}"/>
              </a:ext>
            </a:extLst>
          </p:cNvPr>
          <p:cNvSpPr txBox="1"/>
          <p:nvPr/>
        </p:nvSpPr>
        <p:spPr>
          <a:xfrm>
            <a:off x="635000" y="10160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888888"/>
                </a:solidFill>
              </a:rPr>
              <a:t>Four questions we need answered: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CF832F-8746-45B7-938C-04D099AD5201}"/>
              </a:ext>
            </a:extLst>
          </p:cNvPr>
          <p:cNvSpPr/>
          <p:nvPr/>
        </p:nvSpPr>
        <p:spPr>
          <a:xfrm>
            <a:off x="762000" y="1701800"/>
            <a:ext cx="457200" cy="457200"/>
          </a:xfrm>
          <a:prstGeom prst="ellipse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2FD8D-D66A-47B0-A6CA-6780D41D1B41}"/>
              </a:ext>
            </a:extLst>
          </p:cNvPr>
          <p:cNvSpPr txBox="1"/>
          <p:nvPr/>
        </p:nvSpPr>
        <p:spPr>
          <a:xfrm>
            <a:off x="1397000" y="1625600"/>
            <a:ext cx="10033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D0D0D0"/>
                </a:solidFill>
              </a:rPr>
              <a:t>Do you support sleep medicine as a specialty — specifically trazodone (off-label), CBT-I referral protocols, and orexin receptor antagonists?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6E0F4B-BEFB-447D-B149-2B9D11E14A60}"/>
              </a:ext>
            </a:extLst>
          </p:cNvPr>
          <p:cNvSpPr/>
          <p:nvPr/>
        </p:nvSpPr>
        <p:spPr>
          <a:xfrm>
            <a:off x="762000" y="2717800"/>
            <a:ext cx="457200" cy="457200"/>
          </a:xfrm>
          <a:prstGeom prst="ellipse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F2B6C-771D-4CC5-BD0C-3B7FA339B510}"/>
              </a:ext>
            </a:extLst>
          </p:cNvPr>
          <p:cNvSpPr txBox="1"/>
          <p:nvPr/>
        </p:nvSpPr>
        <p:spPr>
          <a:xfrm>
            <a:off x="1397000" y="2641600"/>
            <a:ext cx="10033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D0D0D0"/>
                </a:solidFill>
              </a:rPr>
              <a:t>What is your pricing structure for a D2C cash-pay sleep program — SaaS, per-visit, or revenue share?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095BF1-CA3C-42A1-AA99-7D51B32EF7B6}"/>
              </a:ext>
            </a:extLst>
          </p:cNvPr>
          <p:cNvSpPr/>
          <p:nvPr/>
        </p:nvSpPr>
        <p:spPr>
          <a:xfrm>
            <a:off x="762000" y="3733800"/>
            <a:ext cx="457200" cy="457200"/>
          </a:xfrm>
          <a:prstGeom prst="ellipse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5026D-0038-4D52-BCDF-8C26CC9BA23D}"/>
              </a:ext>
            </a:extLst>
          </p:cNvPr>
          <p:cNvSpPr txBox="1"/>
          <p:nvPr/>
        </p:nvSpPr>
        <p:spPr>
          <a:xfrm>
            <a:off x="1397000" y="3657600"/>
            <a:ext cx="10033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D0D0D0"/>
                </a:solidFill>
              </a:rPr>
              <a:t>What is your minimum patient volume commitment, if any, for a new partner launch?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BB4C9C-2044-4713-98C2-D77E0DC87076}"/>
              </a:ext>
            </a:extLst>
          </p:cNvPr>
          <p:cNvSpPr/>
          <p:nvPr/>
        </p:nvSpPr>
        <p:spPr>
          <a:xfrm>
            <a:off x="762000" y="4749800"/>
            <a:ext cx="457200" cy="457200"/>
          </a:xfrm>
          <a:prstGeom prst="ellipse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3801C4-C58A-43D1-91B0-87A22DA78F4D}"/>
              </a:ext>
            </a:extLst>
          </p:cNvPr>
          <p:cNvSpPr txBox="1"/>
          <p:nvPr/>
        </p:nvSpPr>
        <p:spPr>
          <a:xfrm>
            <a:off x="1397000" y="4673600"/>
            <a:ext cx="10033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D0D0D0"/>
                </a:solidFill>
              </a:rPr>
              <a:t>What does your onboarding and go-live timeline look like?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CBFE9-0B3D-41E4-9047-DCA7DD178B1B}"/>
              </a:ext>
            </a:extLst>
          </p:cNvPr>
          <p:cNvSpPr/>
          <p:nvPr/>
        </p:nvSpPr>
        <p:spPr>
          <a:xfrm>
            <a:off x="762000" y="5715000"/>
            <a:ext cx="10668000" cy="12700"/>
          </a:xfrm>
          <a:prstGeom prst="rect">
            <a:avLst/>
          </a:prstGeom>
          <a:solidFill>
            <a:srgbClr val="2A2A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A07DA-E49B-4D92-AA79-4F432668A392}"/>
              </a:ext>
            </a:extLst>
          </p:cNvPr>
          <p:cNvSpPr txBox="1"/>
          <p:nvPr/>
        </p:nvSpPr>
        <p:spPr>
          <a:xfrm>
            <a:off x="635000" y="58674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C8A96E"/>
                </a:solidFill>
              </a:rPr>
              <a:t>We are evaluating partners on clinical depth, pricing transparency, and launch speed.</a:t>
            </a:r>
          </a:p>
        </p:txBody>
      </p:sp>
    </p:spTree>
    <p:extLst>
      <p:ext uri="{BB962C8B-B14F-4D97-AF65-F5344CB8AC3E}">
        <p14:creationId xmlns:p14="http://schemas.microsoft.com/office/powerpoint/2010/main" val="18228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254000"/>
            <a:ext cx="1092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 dirty="0">
                <a:solidFill>
                  <a:srgbClr val="F0F0F0"/>
                </a:solidFill>
              </a:rPr>
              <a:t>Let’s Build This Together</a:t>
            </a:r>
          </a:p>
        </p:txBody>
      </p:sp>
      <p:sp>
        <p:nvSpPr>
          <p:cNvPr id="10" name="Oval1"/>
          <p:cNvSpPr/>
          <p:nvPr/>
        </p:nvSpPr>
        <p:spPr>
          <a:xfrm>
            <a:off x="889000" y="1079500"/>
            <a:ext cx="533400" cy="5334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1" name="Line1"/>
          <p:cNvSpPr/>
          <p:nvPr/>
        </p:nvSpPr>
        <p:spPr>
          <a:xfrm>
            <a:off x="1149350" y="1612900"/>
            <a:ext cx="12700" cy="6731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Step1"/>
          <p:cNvSpPr txBox="1"/>
          <p:nvPr/>
        </p:nvSpPr>
        <p:spPr>
          <a:xfrm>
            <a:off x="1651000" y="1079500"/>
            <a:ext cx="9525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D0D0D0"/>
                </a:solidFill>
              </a:rPr>
              <a:t>Confirm sleep medicine prescribing capability — specifically trazodone off-label, CBT-I protocol delivery, and orexin receptor antagonists (Quviviq, Dayvigo).</a:t>
            </a:r>
          </a:p>
        </p:txBody>
      </p:sp>
      <p:sp>
        <p:nvSpPr>
          <p:cNvPr id="13" name="Oval2"/>
          <p:cNvSpPr/>
          <p:nvPr/>
        </p:nvSpPr>
        <p:spPr>
          <a:xfrm>
            <a:off x="889000" y="2286000"/>
            <a:ext cx="533400" cy="5334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Line2"/>
          <p:cNvSpPr/>
          <p:nvPr/>
        </p:nvSpPr>
        <p:spPr>
          <a:xfrm>
            <a:off x="1149350" y="2819400"/>
            <a:ext cx="12700" cy="6731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Step2"/>
          <p:cNvSpPr txBox="1"/>
          <p:nvPr/>
        </p:nvSpPr>
        <p:spPr>
          <a:xfrm>
            <a:off x="1651000" y="2286000"/>
            <a:ext cx="9525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D0D0D0"/>
                </a:solidFill>
              </a:rPr>
              <a:t>Receive partnership pricing proposal — per-patient monthly fee structure, minimum volume requirements if any, 24-hour async review SLA terms.</a:t>
            </a:r>
          </a:p>
        </p:txBody>
      </p:sp>
      <p:sp>
        <p:nvSpPr>
          <p:cNvPr id="16" name="Oval3"/>
          <p:cNvSpPr/>
          <p:nvPr/>
        </p:nvSpPr>
        <p:spPr>
          <a:xfrm>
            <a:off x="889000" y="3492500"/>
            <a:ext cx="533400" cy="533400"/>
          </a:xfrm>
          <a:prstGeom prst="ellipse">
            <a:avLst/>
          </a:prstGeom>
          <a:solidFill>
            <a:srgbClr val="C8A96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7" name="Step3"/>
          <p:cNvSpPr txBox="1"/>
          <p:nvPr/>
        </p:nvSpPr>
        <p:spPr>
          <a:xfrm>
            <a:off x="1651000" y="3492500"/>
            <a:ext cx="9525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D0D0D0"/>
                </a:solidFill>
              </a:rPr>
              <a:t>Review standard partner agreement — MSA and BAA. Sleepgenic has legal counsel engaged. Ready to move on execution timeline.</a:t>
            </a:r>
          </a:p>
        </p:txBody>
      </p:sp>
      <p:sp>
        <p:nvSpPr>
          <p:cNvPr id="30" name="BottomLine"/>
          <p:cNvSpPr txBox="1"/>
          <p:nvPr/>
        </p:nvSpPr>
        <p:spPr>
          <a:xfrm>
            <a:off x="635000" y="4635500"/>
            <a:ext cx="10922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00" b="1" dirty="0">
                <a:solidFill>
                  <a:srgbClr val="F0F0F0"/>
                </a:solidFill>
              </a:rPr>
              <a:t>Sleepgenic is ready to move at Medvi speed. We are looking for a partner who can match that velocity and has the clinical depth to support a sleep medicine program from day one.</a:t>
            </a:r>
          </a:p>
        </p:txBody>
      </p:sp>
      <p:sp>
        <p:nvSpPr>
          <p:cNvPr id="31" name="Divider"/>
          <p:cNvSpPr/>
          <p:nvPr/>
        </p:nvSpPr>
        <p:spPr>
          <a:xfrm>
            <a:off x="4445000" y="5651500"/>
            <a:ext cx="3302000" cy="254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Contact"/>
          <p:cNvSpPr txBox="1"/>
          <p:nvPr/>
        </p:nvSpPr>
        <p:spPr>
          <a:xfrm>
            <a:off x="635000" y="5842000"/>
            <a:ext cx="10922000" cy="444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dirty="0">
                <a:solidFill>
                  <a:srgbClr val="C8A96E"/>
                </a:solidFill>
              </a:rPr>
              <a:t>Mike Ye — sleepgenic.ai</a:t>
            </a:r>
          </a:p>
        </p:txBody>
      </p:sp>
    </p:spTree>
    <p:extLst>
      <p:ext uri="{BB962C8B-B14F-4D97-AF65-F5344CB8AC3E}">
        <p14:creationId xmlns:p14="http://schemas.microsoft.com/office/powerpoint/2010/main" val="334370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177800"/>
            <a:ext cx="109220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F0F0F0"/>
                </a:solidFill>
              </a:rPr>
              <a:t>The Blueprint Already Exists</a:t>
            </a:r>
          </a:p>
        </p:txBody>
      </p:sp>
      <p:sp>
        <p:nvSpPr>
          <p:cNvPr id="3" name="LeftBg"/>
          <p:cNvSpPr/>
          <p:nvPr/>
        </p:nvSpPr>
        <p:spPr>
          <a:xfrm>
            <a:off x="508000" y="711200"/>
            <a:ext cx="5334000" cy="3810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4" name="LeftHdr"/>
          <p:cNvSpPr txBox="1"/>
          <p:nvPr/>
        </p:nvSpPr>
        <p:spPr>
          <a:xfrm>
            <a:off x="698500" y="812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C8A96E"/>
                </a:solidFill>
              </a:rPr>
              <a:t>Medvi (GLP-1)</a:t>
            </a:r>
          </a:p>
        </p:txBody>
      </p:sp>
      <p:sp>
        <p:nvSpPr>
          <p:cNvPr id="5" name="LeftData"/>
          <p:cNvSpPr txBox="1"/>
          <p:nvPr/>
        </p:nvSpPr>
        <p:spPr>
          <a:xfrm>
            <a:off x="698500" y="1143000"/>
            <a:ext cx="4953000" cy="3251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Launched:</a:t>
            </a:r>
            <a:r>
              <a:rPr lang="en-US" sz="1400" dirty="0">
                <a:solidFill>
                  <a:srgbClr val="A0A0A0"/>
                </a:solidFill>
              </a:rPr>
              <a:t> September 2024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Capital:</a:t>
            </a:r>
            <a:r>
              <a:rPr lang="en-US" sz="1400" dirty="0">
                <a:solidFill>
                  <a:srgbClr val="A0A0A0"/>
                </a:solidFill>
              </a:rPr>
              <a:t> $20,000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Employees:</a:t>
            </a:r>
            <a:r>
              <a:rPr lang="en-US" sz="1400" dirty="0">
                <a:solidFill>
                  <a:srgbClr val="A0A0A0"/>
                </a:solidFill>
              </a:rPr>
              <a:t> 2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Year 1 revenue:</a:t>
            </a:r>
            <a:r>
              <a:rPr lang="en-US" sz="1400" dirty="0">
                <a:solidFill>
                  <a:srgbClr val="A0A0A0"/>
                </a:solidFill>
              </a:rPr>
              <a:t> $401 million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Net margin:</a:t>
            </a:r>
            <a:r>
              <a:rPr lang="en-US" sz="1400" dirty="0">
                <a:solidFill>
                  <a:srgbClr val="A0A0A0"/>
                </a:solidFill>
              </a:rPr>
              <a:t> 16.2%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Backend:</a:t>
            </a:r>
            <a:r>
              <a:rPr lang="en-US" sz="1400" dirty="0">
                <a:solidFill>
                  <a:srgbClr val="A0A0A0"/>
                </a:solidFill>
              </a:rPr>
              <a:t> OpenLoop Health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Model:</a:t>
            </a:r>
            <a:r>
              <a:rPr lang="en-US" sz="1400" dirty="0">
                <a:solidFill>
                  <a:srgbClr val="A0A0A0"/>
                </a:solidFill>
              </a:rPr>
              <a:t> Brand + acquisition layer. Licensed clinical infra.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Risk:</a:t>
            </a:r>
            <a:r>
              <a:rPr lang="en-US" sz="1400" dirty="0">
                <a:solidFill>
                  <a:srgbClr val="A0A0A0"/>
                </a:solidFill>
              </a:rPr>
              <a:t> FDA compounding exposure. Shortage ended. Warning letters active.</a:t>
            </a:r>
          </a:p>
        </p:txBody>
      </p:sp>
      <p:sp>
        <p:nvSpPr>
          <p:cNvPr id="6" name="RightBg"/>
          <p:cNvSpPr/>
          <p:nvPr/>
        </p:nvSpPr>
        <p:spPr>
          <a:xfrm>
            <a:off x="6223000" y="711200"/>
            <a:ext cx="5334000" cy="3810000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7" name="RightHdr"/>
          <p:cNvSpPr txBox="1"/>
          <p:nvPr/>
        </p:nvSpPr>
        <p:spPr>
          <a:xfrm>
            <a:off x="6413500" y="812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C8A96E"/>
                </a:solidFill>
              </a:rPr>
              <a:t>Sleepgenic (Sleep Medicine)</a:t>
            </a:r>
          </a:p>
        </p:txBody>
      </p:sp>
      <p:sp>
        <p:nvSpPr>
          <p:cNvPr id="8" name="RightData"/>
          <p:cNvSpPr txBox="1"/>
          <p:nvPr/>
        </p:nvSpPr>
        <p:spPr>
          <a:xfrm>
            <a:off x="6413500" y="1143000"/>
            <a:ext cx="4953000" cy="3251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Launched:</a:t>
            </a:r>
            <a:r>
              <a:rPr lang="en-US" sz="1400" dirty="0">
                <a:solidFill>
                  <a:srgbClr val="A0A0A0"/>
                </a:solidFill>
              </a:rPr>
              <a:t> 2025 (planned)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Capital:</a:t>
            </a:r>
            <a:r>
              <a:rPr lang="en-US" sz="1400" dirty="0">
                <a:solidFill>
                  <a:srgbClr val="A0A0A0"/>
                </a:solidFill>
              </a:rPr>
              <a:t> Lean AI-native build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Employees:</a:t>
            </a:r>
            <a:r>
              <a:rPr lang="en-US" sz="1400" dirty="0">
                <a:solidFill>
                  <a:srgbClr val="A0A0A0"/>
                </a:solidFill>
              </a:rPr>
              <a:t> 2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Backend:</a:t>
            </a:r>
            <a:r>
              <a:rPr lang="en-US" sz="1400" dirty="0">
                <a:solidFill>
                  <a:srgbClr val="A0A0A0"/>
                </a:solidFill>
              </a:rPr>
              <a:t> OpenLoop Health (same infra)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Model:</a:t>
            </a:r>
            <a:r>
              <a:rPr lang="en-US" sz="1400" dirty="0">
                <a:solidFill>
                  <a:srgbClr val="A0A0A0"/>
                </a:solidFill>
              </a:rPr>
              <a:t> Identical architecture to Medvi</a:t>
            </a:r>
          </a:p>
          <a:p>
            <a:pPr algn="l">
              <a:spcAft>
                <a:spcPts val="100"/>
              </a:spcAft>
            </a:pPr>
            <a:r>
              <a:rPr lang="en-US" sz="1400" b="1" dirty="0">
                <a:solidFill>
                  <a:srgbClr val="D0D0D0"/>
                </a:solidFill>
              </a:rPr>
              <a:t>Advantage:</a:t>
            </a:r>
            <a:r>
              <a:rPr lang="en-US" sz="1400" dirty="0">
                <a:solidFill>
                  <a:srgbClr val="A0A0A0"/>
                </a:solidFill>
              </a:rPr>
              <a:t> Zero compounded drug risk. Trazodone generic. Orexin antagonists FDA-approved. No regulatory clock.</a:t>
            </a:r>
          </a:p>
        </p:txBody>
      </p:sp>
      <p:sp>
        <p:nvSpPr>
          <p:cNvPr id="9" name="CalloutBg"/>
          <p:cNvSpPr/>
          <p:nvPr/>
        </p:nvSpPr>
        <p:spPr>
          <a:xfrm>
            <a:off x="508000" y="4699000"/>
            <a:ext cx="11176000" cy="8255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" name="CalloutTxt"/>
          <p:cNvSpPr txBox="1"/>
          <p:nvPr/>
        </p:nvSpPr>
        <p:spPr>
          <a:xfrm>
            <a:off x="762000" y="4749800"/>
            <a:ext cx="106680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C8A96E"/>
                </a:solidFill>
              </a:rPr>
              <a:t>Same infrastructure. Same architecture. Clean regulatory profile. First mover in the sleep category.</a:t>
            </a:r>
          </a:p>
        </p:txBody>
      </p:sp>
      <p:sp>
        <p:nvSpPr>
          <p:cNvPr id="11" name="BotNote"/>
          <p:cNvSpPr txBox="1"/>
          <p:nvPr/>
        </p:nvSpPr>
        <p:spPr>
          <a:xfrm>
            <a:off x="508000" y="5613400"/>
            <a:ext cx="11176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i="1" dirty="0">
                <a:solidFill>
                  <a:srgbClr val="666666"/>
                </a:solidFill>
              </a:rPr>
              <a:t>The question is not whether this model works. Medvi answered that. The question is who builds the sleep version first.</a:t>
            </a:r>
          </a:p>
        </p:txBody>
      </p:sp>
    </p:spTree>
    <p:extLst>
      <p:ext uri="{BB962C8B-B14F-4D97-AF65-F5344CB8AC3E}">
        <p14:creationId xmlns:p14="http://schemas.microsoft.com/office/powerpoint/2010/main" val="1861527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0BFEA-B92D-4FA2-B9DA-459E68EE9BBE}"/>
              </a:ext>
            </a:extLst>
          </p:cNvPr>
          <p:cNvSpPr txBox="1"/>
          <p:nvPr/>
        </p:nvSpPr>
        <p:spPr>
          <a:xfrm>
            <a:off x="635000" y="317500"/>
            <a:ext cx="1092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0F0F0"/>
                </a:solidFill>
              </a:rPr>
              <a:t>Mike Ye — Founder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DFAAC4-B1BB-4755-AE53-0A43C604E105}"/>
              </a:ext>
            </a:extLst>
          </p:cNvPr>
          <p:cNvSpPr/>
          <p:nvPr/>
        </p:nvSpPr>
        <p:spPr>
          <a:xfrm>
            <a:off x="635000" y="889000"/>
            <a:ext cx="1524000" cy="25400"/>
          </a:xfrm>
          <a:prstGeom prst="rect">
            <a:avLst/>
          </a:prstGeom>
          <a:solidFill>
            <a:srgbClr val="C8A9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41F64-79FD-4ECA-BC9C-FA01D506D7EC}"/>
              </a:ext>
            </a:extLst>
          </p:cNvPr>
          <p:cNvSpPr txBox="1"/>
          <p:nvPr/>
        </p:nvSpPr>
        <p:spPr>
          <a:xfrm>
            <a:off x="635000" y="1041400"/>
            <a:ext cx="4826000" cy="495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Aft>
                <a:spcPts val="70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Mike Ye spent 25 years as an institutional operator — leading mergers and acquisitions, corporate development, and capital allocation across media, technology, healthcare, retail, and asset management.</a:t>
            </a:r>
          </a:p>
          <a:p>
            <a:pPr>
              <a:spcAft>
                <a:spcPts val="70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As </a:t>
            </a:r>
            <a:r>
              <a:rPr lang="en-US" sz="1100" b="1" dirty="0">
                <a:solidFill>
                  <a:srgbClr val="C8A96E"/>
                </a:solidFill>
              </a:rPr>
              <a:t>Vice President of Strategic Planning and Acquisitions at Penske Media Corporation</a:t>
            </a:r>
            <a:r>
              <a:rPr lang="en-US" sz="1100" dirty="0">
                <a:solidFill>
                  <a:srgbClr val="D0D0D0"/>
                </a:solidFill>
              </a:rPr>
              <a:t>, he led enterprise acquisitions and portfolio strategy across globally recognized platforms.</a:t>
            </a:r>
          </a:p>
          <a:p>
            <a:pPr>
              <a:spcAft>
                <a:spcPts val="70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He is now the founder of </a:t>
            </a:r>
            <a:r>
              <a:rPr lang="en-US" sz="1100" b="1" dirty="0">
                <a:solidFill>
                  <a:srgbClr val="C8A96E"/>
                </a:solidFill>
              </a:rPr>
              <a:t>exmxc.ai</a:t>
            </a:r>
            <a:r>
              <a:rPr lang="en-US" sz="1100" dirty="0">
                <a:solidFill>
                  <a:srgbClr val="D0D0D0"/>
                </a:solidFill>
              </a:rPr>
              <a:t> — an intelligence institution applying institutional operating experience to the AI era. His operating method is co-cognition: a sustained human–AI thinking loop where judgment, context, and reasoning compound over time.</a:t>
            </a:r>
          </a:p>
          <a:p>
            <a:pPr>
              <a:spcAft>
                <a:spcPts val="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Sleepgenic is the clinical expression of </a:t>
            </a:r>
            <a:r>
              <a:rPr lang="en-US" sz="1100" b="1" dirty="0">
                <a:solidFill>
                  <a:srgbClr val="C8A96E"/>
                </a:solidFill>
              </a:rPr>
              <a:t>TrailGenic</a:t>
            </a:r>
            <a:r>
              <a:rPr lang="en-US" sz="1100" dirty="0">
                <a:solidFill>
                  <a:srgbClr val="D0D0D0"/>
                </a:solidFill>
              </a:rPr>
              <a:t> — his longevity methodology platform built on systematic physiological data collection including multi-year HRV and sleep tracking.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2C6C2C-B894-42FD-A2F1-934C751F399F}"/>
              </a:ext>
            </a:extLst>
          </p:cNvPr>
          <p:cNvSpPr/>
          <p:nvPr/>
        </p:nvSpPr>
        <p:spPr>
          <a:xfrm>
            <a:off x="5689600" y="1041400"/>
            <a:ext cx="12700" cy="4953000"/>
          </a:xfrm>
          <a:prstGeom prst="rect">
            <a:avLst/>
          </a:prstGeom>
          <a:solidFill>
            <a:srgbClr val="2A2A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C25B8-A2A3-482B-A999-47AD31294FBF}"/>
              </a:ext>
            </a:extLst>
          </p:cNvPr>
          <p:cNvSpPr txBox="1"/>
          <p:nvPr/>
        </p:nvSpPr>
        <p:spPr>
          <a:xfrm>
            <a:off x="5943600" y="1041400"/>
            <a:ext cx="5715000" cy="495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GLOBAL MEDIA &amp; EXPERIENTIAL</a:t>
            </a:r>
          </a:p>
          <a:p>
            <a:pPr>
              <a:spcAft>
                <a:spcPts val="50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Rolling Stone · Billboard · Luminate · Golden Globes · Dick Clark's New Year's Rockin' Eve · The Hollywood Reporter · SXSW · Robb Report · Life Is Beautiful Festival</a:t>
            </a:r>
          </a:p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DIGITAL MEDIA &amp; PLATFORMS</a:t>
            </a:r>
          </a:p>
          <a:p>
            <a:pPr>
              <a:spcAft>
                <a:spcPts val="50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SheKnows Media · Vox Media (strategic investment initiatives)</a:t>
            </a:r>
          </a:p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CONSUMER &amp; RETAIL CAPITAL</a:t>
            </a:r>
          </a:p>
          <a:p>
            <a:pPr>
              <a:spcAft>
                <a:spcPts val="50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La Senza acquisition · Express divestiture · Henri Bendel relaunch — L Brands portfolio</a:t>
            </a:r>
          </a:p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HEALTHCARE OPERATIONS</a:t>
            </a:r>
          </a:p>
          <a:p>
            <a:pPr>
              <a:spcAft>
                <a:spcPts val="50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CFO oversight across 10 ambulatory surgical centers, Southern California</a:t>
            </a:r>
          </a:p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TECHNOLOGY &amp; CAPITAL MARKETS</a:t>
            </a:r>
          </a:p>
          <a:p>
            <a:pPr>
              <a:spcAft>
                <a:spcPts val="50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Intel Capital portfolio exit program — $5B+ monetized across 500+ companies</a:t>
            </a:r>
          </a:p>
          <a:p>
            <a:pPr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8A96E"/>
                </a:solidFill>
              </a:rPr>
              <a:t>QUANTITATIVE CAPITAL MARKETS</a:t>
            </a:r>
          </a:p>
          <a:p>
            <a:pPr>
              <a:spcAft>
                <a:spcPts val="0"/>
              </a:spcAft>
              <a:buNone/>
            </a:pPr>
            <a:r>
              <a:rPr lang="en-US" sz="900" dirty="0">
                <a:solidFill>
                  <a:srgbClr val="F0F0F0"/>
                </a:solidFill>
              </a:rPr>
              <a:t>Mellon Capital Management — index fund management including Vanguard Russell 2000 Value Fund and S&amp;P 500 Index Plus Fund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BC77F-FE8F-4501-9A68-2EC03C4F25F8}"/>
              </a:ext>
            </a:extLst>
          </p:cNvPr>
          <p:cNvSpPr txBox="1"/>
          <p:nvPr/>
        </p:nvSpPr>
        <p:spPr>
          <a:xfrm>
            <a:off x="635000" y="65532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</a:rPr>
              <a:t>Appendix — Background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44AFA-406A-4988-9632-BB5EB33A1DBA}"/>
              </a:ext>
            </a:extLst>
          </p:cNvPr>
          <p:cNvSpPr txBox="1"/>
          <p:nvPr/>
        </p:nvSpPr>
        <p:spPr>
          <a:xfrm>
            <a:off x="635000" y="60706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Contact: Mike@trailgenic.com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D0D0D0"/>
                </a:solidFill>
              </a:rPr>
              <a:t>MikeYe.com</a:t>
            </a:r>
          </a:p>
        </p:txBody>
      </p:sp>
    </p:spTree>
    <p:extLst>
      <p:ext uri="{BB962C8B-B14F-4D97-AF65-F5344CB8AC3E}">
        <p14:creationId xmlns:p14="http://schemas.microsoft.com/office/powerpoint/2010/main" val="309481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532367386]">
  <a:themeElements>
    <a:clrScheme name="Office">
      <a:dk1>
        <a:srgbClr val="F0F0F0"/>
      </a:dk1>
      <a:lt1>
        <a:srgbClr val="0A0A0A"/>
      </a:lt1>
      <a:dk2>
        <a:srgbClr val="A0A0A0"/>
      </a:dk2>
      <a:lt2>
        <a:srgbClr val="1A1A2E"/>
      </a:lt2>
      <a:accent1>
        <a:srgbClr val="C8A96E"/>
      </a:accent1>
      <a:accent2>
        <a:srgbClr val="2A5C8A"/>
      </a:accent2>
      <a:accent3>
        <a:srgbClr val="4A7C5C"/>
      </a:accent3>
      <a:accent4>
        <a:srgbClr val="8B6F47"/>
      </a:accent4>
      <a:accent5>
        <a:srgbClr val="6B7B8D"/>
      </a:accent5>
      <a:accent6>
        <a:srgbClr val="9A8C7A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554A04-B853-48F5-89C3-74E3C18F16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759b229-ecb0-41bb-9aa6-d98abed3674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1369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 [1775532367386]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Ye</dc:creator>
  <cp:lastModifiedBy>Michael Ye</cp:lastModifiedBy>
  <cp:revision>2</cp:revision>
  <dcterms:created xsi:type="dcterms:W3CDTF">2026-04-07T03:25:18Z</dcterms:created>
  <dcterms:modified xsi:type="dcterms:W3CDTF">2026-04-07T19:14:16Z</dcterms:modified>
</cp:coreProperties>
</file>